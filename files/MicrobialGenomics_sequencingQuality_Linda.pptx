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423" r:id="rId2"/>
    <p:sldId id="304" r:id="rId3"/>
    <p:sldId id="284" r:id="rId4"/>
    <p:sldId id="308" r:id="rId5"/>
    <p:sldId id="473" r:id="rId6"/>
    <p:sldId id="489" r:id="rId7"/>
    <p:sldId id="310" r:id="rId8"/>
    <p:sldId id="312" r:id="rId9"/>
    <p:sldId id="313" r:id="rId10"/>
    <p:sldId id="314" r:id="rId11"/>
    <p:sldId id="315" r:id="rId12"/>
    <p:sldId id="490" r:id="rId13"/>
    <p:sldId id="410" r:id="rId14"/>
    <p:sldId id="408" r:id="rId15"/>
    <p:sldId id="342" r:id="rId16"/>
    <p:sldId id="488" r:id="rId17"/>
    <p:sldId id="411" r:id="rId18"/>
    <p:sldId id="412" r:id="rId19"/>
    <p:sldId id="422" r:id="rId20"/>
    <p:sldId id="414" r:id="rId21"/>
    <p:sldId id="49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E79"/>
    <a:srgbClr val="FF40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4"/>
    <p:restoredTop sz="88837" autoAdjust="0"/>
  </p:normalViewPr>
  <p:slideViewPr>
    <p:cSldViewPr snapToGrid="0" snapToObjects="1">
      <p:cViewPr varScale="1">
        <p:scale>
          <a:sx n="59" d="100"/>
          <a:sy n="59" d="100"/>
        </p:scale>
        <p:origin x="924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birgitta:dropboxB:Dropbox:NGS%20presentation%202015:test%20NGS%20data%20weergav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8364393285112818E-2"/>
          <c:y val="3.6752540316033262E-2"/>
          <c:w val="0.86593964788225541"/>
          <c:h val="0.83469336740362177"/>
        </c:manualLayout>
      </c:layout>
      <c:lineChart>
        <c:grouping val="standard"/>
        <c:varyColors val="0"/>
        <c:ser>
          <c:idx val="0"/>
          <c:order val="0"/>
          <c:spPr>
            <a:ln w="50800" cmpd="sng"/>
          </c:spPr>
          <c:marker>
            <c:symbol val="diamond"/>
            <c:size val="10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6</c:v>
                </c:pt>
                <c:pt idx="3">
                  <c:v>20</c:v>
                </c:pt>
                <c:pt idx="4">
                  <c:v>50</c:v>
                </c:pt>
                <c:pt idx="5">
                  <c:v>70</c:v>
                </c:pt>
                <c:pt idx="6">
                  <c:v>100</c:v>
                </c:pt>
                <c:pt idx="7">
                  <c:v>150</c:v>
                </c:pt>
                <c:pt idx="8">
                  <c:v>170</c:v>
                </c:pt>
                <c:pt idx="9">
                  <c:v>250</c:v>
                </c:pt>
                <c:pt idx="10">
                  <c:v>300</c:v>
                </c:pt>
                <c:pt idx="11">
                  <c:v>500</c:v>
                </c:pt>
                <c:pt idx="12">
                  <c:v>700</c:v>
                </c:pt>
                <c:pt idx="13">
                  <c:v>1000</c:v>
                </c:pt>
                <c:pt idx="14">
                  <c:v>1500</c:v>
                </c:pt>
                <c:pt idx="15">
                  <c:v>2000</c:v>
                </c:pt>
                <c:pt idx="16">
                  <c:v>3000</c:v>
                </c:pt>
                <c:pt idx="17">
                  <c:v>4000</c:v>
                </c:pt>
                <c:pt idx="18">
                  <c:v>5000</c:v>
                </c:pt>
                <c:pt idx="19">
                  <c:v>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BC-AB42-877C-033CAB28D326}"/>
            </c:ext>
          </c:extLst>
        </c:ser>
        <c:ser>
          <c:idx val="1"/>
          <c:order val="1"/>
          <c:spPr>
            <a:ln w="50800"/>
          </c:spPr>
          <c:marker>
            <c:symbol val="diamond"/>
            <c:size val="10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10</c:v>
                </c:pt>
                <c:pt idx="12">
                  <c:v>20</c:v>
                </c:pt>
                <c:pt idx="13">
                  <c:v>50</c:v>
                </c:pt>
                <c:pt idx="14">
                  <c:v>300</c:v>
                </c:pt>
                <c:pt idx="15">
                  <c:v>600</c:v>
                </c:pt>
                <c:pt idx="16">
                  <c:v>1000</c:v>
                </c:pt>
                <c:pt idx="17">
                  <c:v>2000</c:v>
                </c:pt>
                <c:pt idx="18">
                  <c:v>3000</c:v>
                </c:pt>
                <c:pt idx="19">
                  <c:v>5800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BC-AB42-877C-033CAB28D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061632"/>
        <c:axId val="90787840"/>
      </c:lineChart>
      <c:catAx>
        <c:axId val="89061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2225">
            <a:solidFill>
              <a:schemeClr val="tx1"/>
            </a:solidFill>
          </a:ln>
        </c:spPr>
        <c:txPr>
          <a:bodyPr rot="-4440000" vert="horz" anchor="t" anchorCtr="1"/>
          <a:lstStyle/>
          <a:p>
            <a:pPr>
              <a:defRPr sz="1400" kern="1300" baseline="0"/>
            </a:pPr>
            <a:endParaRPr lang="nl-NL"/>
          </a:p>
        </c:txPr>
        <c:crossAx val="90787840"/>
        <c:crosses val="autoZero"/>
        <c:auto val="1"/>
        <c:lblAlgn val="ctr"/>
        <c:lblOffset val="100"/>
        <c:noMultiLvlLbl val="0"/>
      </c:catAx>
      <c:valAx>
        <c:axId val="90787840"/>
        <c:scaling>
          <c:orientation val="minMax"/>
          <c:max val="60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 w="222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nl-NL"/>
          </a:p>
        </c:txPr>
        <c:crossAx val="8906163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800" baseline="0"/>
      </a:pPr>
      <a:endParaRPr lang="nl-NL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D5C14-5D44-6E47-84DD-1305202C412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242AB-757F-554F-BD96-2C3F07C3C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67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973A4-D774-A646-A93C-9713A82F0C35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0D201-2437-2D42-9A05-8839CA51E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1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I’ve sequenced Lactococcus lactis in 2002-2004. Took 2 years. 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086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BB7A4-F7E2-AE4D-AC4F-DD1F7280D4C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76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6734B-2390-A44E-B4E1-C667C84CCD02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85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6734B-2390-A44E-B4E1-C667C84CCD02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51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235"/>
            <a:ext cx="5486082" cy="4032655"/>
          </a:xfrm>
        </p:spPr>
        <p:txBody>
          <a:bodyPr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91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881329" y="8686472"/>
            <a:ext cx="2975400" cy="45621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1"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pPr algn="r" hangingPunct="0">
              <a:lnSpc>
                <a:spcPct val="93000"/>
              </a:lnSpc>
              <a:tabLst>
                <a:tab pos="0" algn="l"/>
                <a:tab pos="410291" algn="l"/>
                <a:tab pos="820583" algn="l"/>
                <a:tab pos="1230873" algn="l"/>
                <a:tab pos="1641165" algn="l"/>
                <a:tab pos="2051456" algn="l"/>
                <a:tab pos="2461747" algn="l"/>
                <a:tab pos="2872039" algn="l"/>
                <a:tab pos="3282330" algn="l"/>
                <a:tab pos="3692621" algn="l"/>
                <a:tab pos="4102912" algn="l"/>
                <a:tab pos="4513204" algn="l"/>
                <a:tab pos="4923494" algn="l"/>
                <a:tab pos="5333787" algn="l"/>
                <a:tab pos="5744077" algn="l"/>
                <a:tab pos="6154369" algn="l"/>
                <a:tab pos="6564660" algn="l"/>
                <a:tab pos="6974951" algn="l"/>
                <a:tab pos="7385242" algn="l"/>
                <a:tab pos="7795534" algn="l"/>
                <a:tab pos="8205825" algn="l"/>
              </a:tabLst>
            </a:pPr>
            <a:fld id="{B53F0CA1-64B3-4E69-98DF-8129E91D9C91}" type="slidenum">
              <a:rPr lang="en-US" sz="1300">
                <a:solidFill>
                  <a:srgbClr val="000000"/>
                </a:solidFill>
                <a:latin typeface="Times New Roman" pitchFamily="17"/>
                <a:ea typeface="DejaVu Sans" pitchFamily="2"/>
                <a:cs typeface="DejaVu Sans" pitchFamily="2"/>
              </a:rPr>
              <a:pPr algn="r" hangingPunct="0">
                <a:lnSpc>
                  <a:spcPct val="93000"/>
                </a:lnSpc>
                <a:tabLst>
                  <a:tab pos="0" algn="l"/>
                  <a:tab pos="410291" algn="l"/>
                  <a:tab pos="820583" algn="l"/>
                  <a:tab pos="1230873" algn="l"/>
                  <a:tab pos="1641165" algn="l"/>
                  <a:tab pos="2051456" algn="l"/>
                  <a:tab pos="2461747" algn="l"/>
                  <a:tab pos="2872039" algn="l"/>
                  <a:tab pos="3282330" algn="l"/>
                  <a:tab pos="3692621" algn="l"/>
                  <a:tab pos="4102912" algn="l"/>
                  <a:tab pos="4513204" algn="l"/>
                  <a:tab pos="4923494" algn="l"/>
                  <a:tab pos="5333787" algn="l"/>
                  <a:tab pos="5744077" algn="l"/>
                  <a:tab pos="6154369" algn="l"/>
                  <a:tab pos="6564660" algn="l"/>
                  <a:tab pos="6974951" algn="l"/>
                  <a:tab pos="7385242" algn="l"/>
                  <a:tab pos="7795534" algn="l"/>
                  <a:tab pos="8205825" algn="l"/>
                </a:tabLst>
              </a:pPr>
              <a:t>9</a:t>
            </a:fld>
            <a:endParaRPr lang="en-US" sz="1300" dirty="0">
              <a:solidFill>
                <a:srgbClr val="000000"/>
              </a:solidFill>
              <a:latin typeface="Times New Roman" pitchFamily="17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2"/>
          <p:cNvSpPr>
            <a:spLocks noGrp="1" noRot="1" noChangeAspect="1" noResize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6436" y="4342582"/>
            <a:ext cx="5485129" cy="276999"/>
          </a:xfrm>
        </p:spPr>
        <p:txBody>
          <a:bodyPr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9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86436" y="4342582"/>
            <a:ext cx="5485129" cy="4113818"/>
          </a:xfrm>
        </p:spPr>
        <p:txBody>
          <a:bodyPr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79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1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46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67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6734B-2390-A44E-B4E1-C667C84CCD02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042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Nucleotides have different sizes, which gives different currents in the nanopore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4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45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3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1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89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88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16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22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57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9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73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93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55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42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74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jpeg"/><Relationship Id="rId7" Type="http://schemas.openxmlformats.org/officeDocument/2006/relationships/image" Target="../media/image28.tif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gif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5.gif"/><Relationship Id="rId4" Type="http://schemas.openxmlformats.org/officeDocument/2006/relationships/image" Target="../media/image31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3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5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197" y="802891"/>
            <a:ext cx="10317480" cy="164340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accent1"/>
                </a:solidFill>
              </a:rPr>
              <a:t>DNA sequencing, accuracy and errors</a:t>
            </a:r>
            <a:endParaRPr lang="en-US" sz="4000" i="1" dirty="0">
              <a:solidFill>
                <a:schemeClr val="accent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9145" y="3393353"/>
            <a:ext cx="51662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ea typeface="Tahoma" panose="020B0604030504040204" pitchFamily="34" charset="0"/>
                <a:cs typeface="Tahoma" panose="020B0604030504040204" pitchFamily="34" charset="0"/>
              </a:rPr>
              <a:t>Linda van der Graaf – van Bloois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7068" y="4240970"/>
            <a:ext cx="5777864" cy="1143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Faculty of Veterinary Medicine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Department of Biomolecular Health Sciences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7FED9-0B58-9940-BC35-CDBFD4A67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400" y="6201425"/>
            <a:ext cx="2004092" cy="5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E7E26-149B-4C4A-B2AC-3902637054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1904" y="6224217"/>
            <a:ext cx="1788067" cy="55378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586D13-C9A3-4240-9274-BC8A8E78D4D2}"/>
              </a:ext>
            </a:extLst>
          </p:cNvPr>
          <p:cNvCxnSpPr/>
          <p:nvPr/>
        </p:nvCxnSpPr>
        <p:spPr>
          <a:xfrm>
            <a:off x="0" y="6148533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69EDBB-A6DA-44BB-9B83-65A784EF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5792" y="6004855"/>
            <a:ext cx="2293762" cy="10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14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2">
            <a:extLst>
              <a:ext uri="{FF2B5EF4-FFF2-40B4-BE49-F238E27FC236}">
                <a16:creationId xmlns:a16="http://schemas.microsoft.com/office/drawing/2014/main" id="{5A66C520-0859-4F4D-8E02-F1BB7C2D9785}"/>
              </a:ext>
            </a:extLst>
          </p:cNvPr>
          <p:cNvSpPr txBox="1"/>
          <p:nvPr/>
        </p:nvSpPr>
        <p:spPr>
          <a:xfrm>
            <a:off x="4106309" y="5413902"/>
            <a:ext cx="5660963" cy="144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nl-NL" sz="2399" i="1" dirty="0">
              <a:latin typeface="Merriweather" panose="02060503050406030704" pitchFamily="18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nl-NL" sz="1600" i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Haemophilus</a:t>
            </a:r>
            <a:r>
              <a:rPr lang="nl-NL" sz="1600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nl-NL" sz="1600" i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influenzae</a:t>
            </a:r>
            <a:endParaRPr lang="nl-NL" sz="1600" i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nl-NL" sz="23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nl-NL" sz="23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7" name="Picture 2" descr="http://lifesciencesfoundation.org/content/media/2011/06/28/1994_Haemophilus_influenzae_genome_wolbachia.wikispaces.com-large.jpg">
            <a:extLst>
              <a:ext uri="{FF2B5EF4-FFF2-40B4-BE49-F238E27FC236}">
                <a16:creationId xmlns:a16="http://schemas.microsoft.com/office/drawing/2014/main" id="{6B6E4A20-32F7-4388-8E48-8F79FF72D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807" y="1562809"/>
            <a:ext cx="5124452" cy="4989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vak 3">
            <a:extLst>
              <a:ext uri="{FF2B5EF4-FFF2-40B4-BE49-F238E27FC236}">
                <a16:creationId xmlns:a16="http://schemas.microsoft.com/office/drawing/2014/main" id="{955F8E98-417A-45ED-A4D7-775F54A0AFC9}"/>
              </a:ext>
            </a:extLst>
          </p:cNvPr>
          <p:cNvSpPr txBox="1"/>
          <p:nvPr/>
        </p:nvSpPr>
        <p:spPr>
          <a:xfrm>
            <a:off x="6240771" y="1703593"/>
            <a:ext cx="5359489" cy="316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1995</a:t>
            </a:r>
          </a:p>
          <a:p>
            <a:pPr algn="ctr"/>
            <a:endParaRPr lang="nl-NL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Entirely</a:t>
            </a:r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done</a:t>
            </a:r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by</a:t>
            </a:r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Sanger</a:t>
            </a:r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sequencing</a:t>
            </a:r>
            <a:endParaRPr lang="nl-NL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nl-NL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Estimated</a:t>
            </a:r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nl-NL" sz="1999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cost</a:t>
            </a:r>
            <a:r>
              <a:rPr lang="nl-NL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$0.48/base</a:t>
            </a:r>
          </a:p>
          <a:p>
            <a:pPr algn="ctr"/>
            <a:endParaRPr lang="en-US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en-US" sz="1999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&gt; 1M€ per genome in todays money</a:t>
            </a:r>
            <a:endParaRPr lang="nl-NL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en-US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en-US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en-US" sz="1999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2E7CC2-5422-4E72-A3A8-CC77668BAE4D}"/>
              </a:ext>
            </a:extLst>
          </p:cNvPr>
          <p:cNvSpPr txBox="1"/>
          <p:nvPr/>
        </p:nvSpPr>
        <p:spPr>
          <a:xfrm>
            <a:off x="1361519" y="6552133"/>
            <a:ext cx="4011272" cy="1846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Fleischmann et al Science. 1995 </a:t>
            </a:r>
            <a:r>
              <a:rPr lang="fr-FR" sz="12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Jul</a:t>
            </a:r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28;269(5223):496-512.</a:t>
            </a:r>
            <a:endParaRPr lang="nl-NL" sz="1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B73423-5D17-4D42-97E2-F6219BDDC548}"/>
              </a:ext>
            </a:extLst>
          </p:cNvPr>
          <p:cNvSpPr txBox="1">
            <a:spLocks/>
          </p:cNvSpPr>
          <p:nvPr/>
        </p:nvSpPr>
        <p:spPr>
          <a:xfrm>
            <a:off x="0" y="14906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1"/>
                </a:solidFill>
              </a:rPr>
              <a:t>First microbial genome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284AF-DF64-36DB-4323-29D0D1BD267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4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5D71478-1F4A-B14D-BD65-BF44F21041D6}"/>
              </a:ext>
            </a:extLst>
          </p:cNvPr>
          <p:cNvSpPr txBox="1"/>
          <p:nvPr/>
        </p:nvSpPr>
        <p:spPr>
          <a:xfrm rot="16891801">
            <a:off x="9241757" y="5435995"/>
            <a:ext cx="7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163" y="1447619"/>
            <a:ext cx="207359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/>
              <a:t>Sanger sequencing</a:t>
            </a:r>
          </a:p>
        </p:txBody>
      </p:sp>
      <p:sp>
        <p:nvSpPr>
          <p:cNvPr id="21" name="Title 20"/>
          <p:cNvSpPr txBox="1">
            <a:spLocks noGrp="1"/>
          </p:cNvSpPr>
          <p:nvPr>
            <p:ph type="title"/>
          </p:nvPr>
        </p:nvSpPr>
        <p:spPr>
          <a:xfrm>
            <a:off x="2976550" y="116633"/>
            <a:ext cx="6349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Microbial sequencing projects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1182630" y="1308105"/>
          <a:ext cx="8892480" cy="468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302219" y="3391834"/>
            <a:ext cx="0" cy="18373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078083" y="4549769"/>
            <a:ext cx="0" cy="6794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318443" y="3391835"/>
            <a:ext cx="0" cy="1681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67251" y="2360495"/>
            <a:ext cx="0" cy="26422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872116" y="3935791"/>
            <a:ext cx="1484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bacteria:</a:t>
            </a:r>
          </a:p>
          <a:p>
            <a:r>
              <a:rPr lang="en-US" i="1" dirty="0"/>
              <a:t>H. </a:t>
            </a:r>
            <a:r>
              <a:rPr lang="en-US" i="1" dirty="0" err="1"/>
              <a:t>influenzae</a:t>
            </a:r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2150092" y="2763913"/>
            <a:ext cx="2162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</a:t>
            </a:r>
            <a:r>
              <a:rPr lang="en-US" dirty="0" err="1"/>
              <a:t>mulicellular</a:t>
            </a:r>
            <a:endParaRPr lang="en-US" dirty="0"/>
          </a:p>
          <a:p>
            <a:r>
              <a:rPr lang="en-US" dirty="0"/>
              <a:t>organism: </a:t>
            </a:r>
            <a:r>
              <a:rPr lang="en-US" i="1" dirty="0"/>
              <a:t>C. </a:t>
            </a:r>
            <a:r>
              <a:rPr lang="en-US" i="1" dirty="0" err="1"/>
              <a:t>elegans</a:t>
            </a:r>
            <a:endParaRPr lang="en-US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4310332" y="2486913"/>
            <a:ext cx="18902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global</a:t>
            </a:r>
          </a:p>
          <a:p>
            <a:r>
              <a:rPr lang="en-US" dirty="0"/>
              <a:t>ocean sampling</a:t>
            </a:r>
          </a:p>
          <a:p>
            <a:r>
              <a:rPr lang="en-US" dirty="0"/>
              <a:t>for </a:t>
            </a:r>
            <a:r>
              <a:rPr lang="en-US" dirty="0" err="1"/>
              <a:t>metagenomics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02686" y="1756557"/>
            <a:ext cx="1674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Pyrosequencing</a:t>
            </a:r>
            <a:endParaRPr lang="en-US" dirty="0"/>
          </a:p>
          <a:p>
            <a:pPr algn="ctr"/>
            <a:r>
              <a:rPr lang="en-US" dirty="0"/>
              <a:t>(454)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4467" y="1375611"/>
            <a:ext cx="365796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/>
              <a:t>Next generation sequencing (NGS)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2521" y="6094458"/>
            <a:ext cx="24075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Complete genomes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5131" y="6094458"/>
            <a:ext cx="18755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Draft genomes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-465301" y="3313562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Microbial Sequencing projects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988643" y="6275357"/>
            <a:ext cx="648072" cy="144016"/>
            <a:chOff x="1547664" y="6320666"/>
            <a:chExt cx="648072" cy="144016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547664" y="6381328"/>
              <a:ext cx="648072" cy="0"/>
            </a:xfrm>
            <a:prstGeom prst="line">
              <a:avLst/>
            </a:prstGeom>
            <a:ln w="57150" cmpd="sng">
              <a:solidFill>
                <a:srgbClr val="0066CC"/>
              </a:solidFill>
              <a:prstDash val="solid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Process 35"/>
            <p:cNvSpPr/>
            <p:nvPr/>
          </p:nvSpPr>
          <p:spPr>
            <a:xfrm rot="13320000">
              <a:off x="1806022" y="6320666"/>
              <a:ext cx="144000" cy="144016"/>
            </a:xfrm>
            <a:prstGeom prst="flowChartProcess">
              <a:avLst/>
            </a:prstGeom>
            <a:solidFill>
              <a:srgbClr val="0066CC"/>
            </a:solidFill>
            <a:ln>
              <a:solidFill>
                <a:srgbClr val="00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141507" y="6268155"/>
            <a:ext cx="648072" cy="144016"/>
            <a:chOff x="5004048" y="6313464"/>
            <a:chExt cx="648072" cy="144016"/>
          </a:xfrm>
          <a:solidFill>
            <a:schemeClr val="accent2"/>
          </a:solidFill>
        </p:grpSpPr>
        <p:cxnSp>
          <p:nvCxnSpPr>
            <p:cNvPr id="35" name="Straight Connector 34"/>
            <p:cNvCxnSpPr/>
            <p:nvPr/>
          </p:nvCxnSpPr>
          <p:spPr>
            <a:xfrm>
              <a:off x="5004048" y="6381328"/>
              <a:ext cx="648072" cy="0"/>
            </a:xfrm>
            <a:prstGeom prst="line">
              <a:avLst/>
            </a:prstGeom>
            <a:grpFill/>
            <a:ln w="57150" cmpd="sng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Process 36"/>
            <p:cNvSpPr/>
            <p:nvPr/>
          </p:nvSpPr>
          <p:spPr>
            <a:xfrm rot="13320000">
              <a:off x="5272462" y="6313464"/>
              <a:ext cx="144000" cy="144016"/>
            </a:xfrm>
            <a:prstGeom prst="flowChartProcess">
              <a:avLst/>
            </a:prstGeom>
            <a:grpFill/>
            <a:ln>
              <a:solidFill>
                <a:srgbClr val="9900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118643" y="2023683"/>
            <a:ext cx="180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Rapid sequencing during EHEC outbreak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342779" y="3144453"/>
            <a:ext cx="0" cy="1166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kstvak 15"/>
          <p:cNvSpPr txBox="1"/>
          <p:nvPr/>
        </p:nvSpPr>
        <p:spPr>
          <a:xfrm>
            <a:off x="5255462" y="882603"/>
            <a:ext cx="5602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j-lt"/>
              </a:rPr>
              <a:t>NCBI GenBank &amp; SRA microbial genomes &gt;10 million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DA8017A-CEDD-7B4B-8F59-6B541346822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  <p:sp>
        <p:nvSpPr>
          <p:cNvPr id="6" name="Right Arrow Callout 5">
            <a:extLst>
              <a:ext uri="{FF2B5EF4-FFF2-40B4-BE49-F238E27FC236}">
                <a16:creationId xmlns:a16="http://schemas.microsoft.com/office/drawing/2014/main" id="{89BE4F1D-6F52-BB4E-BB61-933D304F62B9}"/>
              </a:ext>
            </a:extLst>
          </p:cNvPr>
          <p:cNvSpPr/>
          <p:nvPr/>
        </p:nvSpPr>
        <p:spPr>
          <a:xfrm rot="1486094">
            <a:off x="2687879" y="4139073"/>
            <a:ext cx="2392592" cy="914400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600" dirty="0"/>
              <a:t>1 genome</a:t>
            </a:r>
          </a:p>
          <a:p>
            <a:pPr algn="ctr"/>
            <a:r>
              <a:rPr lang="en-NL" sz="1600" dirty="0"/>
              <a:t>2 years</a:t>
            </a:r>
          </a:p>
          <a:p>
            <a:pPr algn="ctr"/>
            <a:r>
              <a:rPr lang="en-NL" sz="1600" dirty="0"/>
              <a:t>100k €/ genome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063CA5-C05A-144B-83F4-569501C8B091}"/>
              </a:ext>
            </a:extLst>
          </p:cNvPr>
          <p:cNvCxnSpPr>
            <a:cxnSpLocks/>
          </p:cNvCxnSpPr>
          <p:nvPr/>
        </p:nvCxnSpPr>
        <p:spPr>
          <a:xfrm>
            <a:off x="9491991" y="5380991"/>
            <a:ext cx="744704" cy="1155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F2E7DF-08BE-CE45-BDFF-6C172B2ECA56}"/>
              </a:ext>
            </a:extLst>
          </p:cNvPr>
          <p:cNvCxnSpPr>
            <a:cxnSpLocks/>
          </p:cNvCxnSpPr>
          <p:nvPr/>
        </p:nvCxnSpPr>
        <p:spPr>
          <a:xfrm flipV="1">
            <a:off x="9849883" y="5385044"/>
            <a:ext cx="0" cy="636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D21D02-4AAD-D543-81ED-7AF226554C37}"/>
              </a:ext>
            </a:extLst>
          </p:cNvPr>
          <p:cNvCxnSpPr>
            <a:cxnSpLocks/>
          </p:cNvCxnSpPr>
          <p:nvPr/>
        </p:nvCxnSpPr>
        <p:spPr>
          <a:xfrm flipV="1">
            <a:off x="10210692" y="5395103"/>
            <a:ext cx="0" cy="595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9A67985-8EAD-1B42-9A8E-22D837515021}"/>
              </a:ext>
            </a:extLst>
          </p:cNvPr>
          <p:cNvSpPr txBox="1"/>
          <p:nvPr/>
        </p:nvSpPr>
        <p:spPr>
          <a:xfrm rot="16891801">
            <a:off x="9592791" y="5447981"/>
            <a:ext cx="7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2016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FA9692-1ACB-5B46-B1D9-87F825054571}"/>
              </a:ext>
            </a:extLst>
          </p:cNvPr>
          <p:cNvCxnSpPr>
            <a:cxnSpLocks/>
          </p:cNvCxnSpPr>
          <p:nvPr/>
        </p:nvCxnSpPr>
        <p:spPr>
          <a:xfrm>
            <a:off x="10230021" y="5392541"/>
            <a:ext cx="744704" cy="1155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EBF0F14-170B-2C42-BF3E-5E8235BA5E46}"/>
              </a:ext>
            </a:extLst>
          </p:cNvPr>
          <p:cNvSpPr txBox="1"/>
          <p:nvPr/>
        </p:nvSpPr>
        <p:spPr>
          <a:xfrm rot="16891801">
            <a:off x="10245873" y="5442843"/>
            <a:ext cx="7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2020</a:t>
            </a:r>
          </a:p>
        </p:txBody>
      </p:sp>
      <p:sp>
        <p:nvSpPr>
          <p:cNvPr id="48" name="Down Arrow Callout 47">
            <a:extLst>
              <a:ext uri="{FF2B5EF4-FFF2-40B4-BE49-F238E27FC236}">
                <a16:creationId xmlns:a16="http://schemas.microsoft.com/office/drawing/2014/main" id="{F4254553-8E5F-A343-A892-FAC82DBA72FF}"/>
              </a:ext>
            </a:extLst>
          </p:cNvPr>
          <p:cNvSpPr/>
          <p:nvPr/>
        </p:nvSpPr>
        <p:spPr>
          <a:xfrm>
            <a:off x="9798122" y="3498228"/>
            <a:ext cx="1552914" cy="1744441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600" dirty="0"/>
              <a:t>1000 genomes</a:t>
            </a:r>
          </a:p>
          <a:p>
            <a:pPr algn="ctr"/>
            <a:r>
              <a:rPr lang="en-NL" sz="1600" dirty="0"/>
              <a:t>6 weeks</a:t>
            </a:r>
          </a:p>
          <a:p>
            <a:pPr algn="ctr"/>
            <a:r>
              <a:rPr lang="en-NL" sz="1600" dirty="0"/>
              <a:t>&lt;100 €/ genome </a:t>
            </a:r>
          </a:p>
        </p:txBody>
      </p:sp>
    </p:spTree>
    <p:extLst>
      <p:ext uri="{BB962C8B-B14F-4D97-AF65-F5344CB8AC3E}">
        <p14:creationId xmlns:p14="http://schemas.microsoft.com/office/powerpoint/2010/main" val="49519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 animBg="1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https://flxlexblog.files.wordpress.com/2015/06/june_2015_with_minion1.jp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3" y="0"/>
            <a:ext cx="9144001" cy="68580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8601919" y="785512"/>
            <a:ext cx="70404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2015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513636" y="46298"/>
            <a:ext cx="7724973" cy="5984112"/>
            <a:chOff x="989635" y="46298"/>
            <a:chExt cx="7724973" cy="5984112"/>
          </a:xfrm>
        </p:grpSpPr>
        <p:sp>
          <p:nvSpPr>
            <p:cNvPr id="4" name="Oval 3"/>
            <p:cNvSpPr/>
            <p:nvPr/>
          </p:nvSpPr>
          <p:spPr>
            <a:xfrm>
              <a:off x="4953965" y="4919240"/>
              <a:ext cx="1238491" cy="1111170"/>
            </a:xfrm>
            <a:prstGeom prst="ellipse">
              <a:avLst/>
            </a:prstGeom>
            <a:noFill/>
            <a:ln w="571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285800" y="46298"/>
              <a:ext cx="4506322" cy="4734046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960962" y="1306763"/>
              <a:ext cx="2025570" cy="271504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973747" y="3964412"/>
              <a:ext cx="1740861" cy="369332"/>
            </a:xfrm>
            <a:prstGeom prst="rect">
              <a:avLst/>
            </a:prstGeom>
            <a:solidFill>
              <a:srgbClr val="FF7E79"/>
            </a:solidFill>
            <a:ln w="38100">
              <a:solidFill>
                <a:srgbClr val="FF000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Third generation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9635" y="4272644"/>
              <a:ext cx="1937582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Second generation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48078" y="5084512"/>
              <a:ext cx="1654043" cy="3693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25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generation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A1C8F49-62EF-B641-2AFC-921B6AE349F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340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71032E-B612-8B4C-9C36-3B22EB3E21D1}"/>
              </a:ext>
            </a:extLst>
          </p:cNvPr>
          <p:cNvGrpSpPr/>
          <p:nvPr/>
        </p:nvGrpSpPr>
        <p:grpSpPr>
          <a:xfrm>
            <a:off x="3046457" y="2819883"/>
            <a:ext cx="965672" cy="1013332"/>
            <a:chOff x="1447439" y="3381969"/>
            <a:chExt cx="965672" cy="1013332"/>
          </a:xfrm>
        </p:grpSpPr>
        <p:pic>
          <p:nvPicPr>
            <p:cNvPr id="5123" name="Picture 3" descr="C:\Users\duim0101\Dropbox\Screenshots\Screenshot 2018-02-02 14.36.1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439" y="3381969"/>
              <a:ext cx="965672" cy="843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kstvak 4"/>
            <p:cNvSpPr txBox="1"/>
            <p:nvPr/>
          </p:nvSpPr>
          <p:spPr>
            <a:xfrm>
              <a:off x="1547664" y="4149080"/>
              <a:ext cx="8098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Ion Gene S5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A6BE9C-F15A-0B46-B8B4-4B4D156E5A46}"/>
              </a:ext>
            </a:extLst>
          </p:cNvPr>
          <p:cNvGrpSpPr/>
          <p:nvPr/>
        </p:nvGrpSpPr>
        <p:grpSpPr>
          <a:xfrm>
            <a:off x="5190509" y="2819883"/>
            <a:ext cx="1216550" cy="1052482"/>
            <a:chOff x="1495134" y="4591005"/>
            <a:chExt cx="1216550" cy="1052482"/>
          </a:xfrm>
        </p:grpSpPr>
        <p:pic>
          <p:nvPicPr>
            <p:cNvPr id="5122" name="Picture 2" descr="C:\Users\duim0101\Dropbox\Screenshots\Screenshot 2018-02-02 14.36.34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5134" y="4591005"/>
              <a:ext cx="1216550" cy="929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kstvak 15"/>
            <p:cNvSpPr txBox="1"/>
            <p:nvPr/>
          </p:nvSpPr>
          <p:spPr>
            <a:xfrm>
              <a:off x="1819677" y="5397266"/>
              <a:ext cx="7360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Ion Proton</a:t>
              </a:r>
            </a:p>
          </p:txBody>
        </p:sp>
      </p:grpSp>
      <p:sp>
        <p:nvSpPr>
          <p:cNvPr id="17" name="TextBox 2"/>
          <p:cNvSpPr txBox="1"/>
          <p:nvPr/>
        </p:nvSpPr>
        <p:spPr>
          <a:xfrm>
            <a:off x="1" y="13726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/>
                </a:solidFill>
                <a:latin typeface="+mj-lt"/>
              </a:rPr>
              <a:t>Second generation (Short-read) sequencing methods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4DB1BEDB-67A6-6C40-92AE-F7DD7FA55B47}"/>
              </a:ext>
            </a:extLst>
          </p:cNvPr>
          <p:cNvSpPr txBox="1"/>
          <p:nvPr/>
        </p:nvSpPr>
        <p:spPr>
          <a:xfrm>
            <a:off x="1159617" y="925487"/>
            <a:ext cx="19092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sz="2800" dirty="0">
              <a:latin typeface="+mj-lt"/>
            </a:endParaRPr>
          </a:p>
          <a:p>
            <a:r>
              <a:rPr lang="nl-NL" sz="2800" dirty="0">
                <a:latin typeface="+mj-lt"/>
              </a:rPr>
              <a:t>Roche 454</a:t>
            </a:r>
          </a:p>
          <a:p>
            <a:endParaRPr lang="nl-NL" sz="2800" dirty="0">
              <a:latin typeface="+mj-lt"/>
            </a:endParaRPr>
          </a:p>
          <a:p>
            <a:endParaRPr lang="nl-NL" sz="2800" dirty="0">
              <a:latin typeface="+mj-lt"/>
            </a:endParaRPr>
          </a:p>
          <a:p>
            <a:r>
              <a:rPr lang="nl-NL" sz="2800" dirty="0">
                <a:latin typeface="+mj-lt"/>
              </a:rPr>
              <a:t>IonTorrent</a:t>
            </a:r>
          </a:p>
          <a:p>
            <a:endParaRPr lang="nl-NL" sz="2800" dirty="0">
              <a:latin typeface="+mj-lt"/>
            </a:endParaRPr>
          </a:p>
          <a:p>
            <a:endParaRPr lang="nl-NL" sz="2800" dirty="0">
              <a:latin typeface="+mj-lt"/>
            </a:endParaRPr>
          </a:p>
          <a:p>
            <a:endParaRPr lang="nl-NL" sz="2800" dirty="0">
              <a:latin typeface="+mj-lt"/>
            </a:endParaRPr>
          </a:p>
          <a:p>
            <a:r>
              <a:rPr lang="nl-NL" sz="2800" dirty="0" err="1">
                <a:latin typeface="+mj-lt"/>
              </a:rPr>
              <a:t>Illumina</a:t>
            </a:r>
            <a:endParaRPr lang="nl-NL" sz="2800" dirty="0">
              <a:latin typeface="+mj-lt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18469238-2FDF-FC4F-A33C-13633656D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6200000">
            <a:off x="3046404" y="1372760"/>
            <a:ext cx="975992" cy="72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9D1E9FE9-D9AC-6045-9065-AF86CED79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8979" y="1248917"/>
            <a:ext cx="1015030" cy="10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9">
            <a:extLst>
              <a:ext uri="{FF2B5EF4-FFF2-40B4-BE49-F238E27FC236}">
                <a16:creationId xmlns:a16="http://schemas.microsoft.com/office/drawing/2014/main" id="{CE67F6EF-FB7E-B44D-9744-0E926419C284}"/>
              </a:ext>
            </a:extLst>
          </p:cNvPr>
          <p:cNvSpPr txBox="1"/>
          <p:nvPr/>
        </p:nvSpPr>
        <p:spPr>
          <a:xfrm>
            <a:off x="6184099" y="1374455"/>
            <a:ext cx="5735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nl-NL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nl-NL" sz="2400" dirty="0">
                <a:latin typeface="Calibri" panose="020F0502020204030204" pitchFamily="34" charset="0"/>
                <a:cs typeface="Calibri" panose="020F0502020204030204" pitchFamily="34" charset="0"/>
              </a:rPr>
              <a:t> next-generation system: </a:t>
            </a:r>
            <a:r>
              <a:rPr lang="nl-N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pyrosequencing</a:t>
            </a:r>
            <a:endParaRPr lang="nl-N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C8349E-B89E-2544-9C53-1BFB002BAC6C}"/>
              </a:ext>
            </a:extLst>
          </p:cNvPr>
          <p:cNvSpPr/>
          <p:nvPr/>
        </p:nvSpPr>
        <p:spPr>
          <a:xfrm>
            <a:off x="3145080" y="1387331"/>
            <a:ext cx="2916824" cy="7078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nl-NL" sz="4000" dirty="0" err="1">
                <a:solidFill>
                  <a:srgbClr val="FF0000"/>
                </a:solidFill>
              </a:rPr>
              <a:t>Discontinued</a:t>
            </a:r>
            <a:endParaRPr lang="nl-NL" dirty="0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DB7C311F-2A67-ED43-93A2-5EB72682EE29}"/>
              </a:ext>
            </a:extLst>
          </p:cNvPr>
          <p:cNvSpPr txBox="1"/>
          <p:nvPr/>
        </p:nvSpPr>
        <p:spPr>
          <a:xfrm>
            <a:off x="6702037" y="2866368"/>
            <a:ext cx="4852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cheap, fast, </a:t>
            </a:r>
            <a:r>
              <a:rPr lang="nl-NL" sz="2400" dirty="0" err="1"/>
              <a:t>sequence</a:t>
            </a:r>
            <a:r>
              <a:rPr lang="nl-NL" sz="2400" dirty="0"/>
              <a:t> </a:t>
            </a:r>
            <a:r>
              <a:rPr lang="nl-NL" sz="2400" dirty="0" err="1"/>
              <a:t>errors</a:t>
            </a:r>
            <a:r>
              <a:rPr lang="nl-NL" sz="2400" dirty="0"/>
              <a:t>,</a:t>
            </a:r>
          </a:p>
          <a:p>
            <a:r>
              <a:rPr lang="nl-NL" sz="2400" dirty="0"/>
              <a:t> 200-400 </a:t>
            </a:r>
            <a:r>
              <a:rPr lang="nl-NL" sz="2400" dirty="0" err="1"/>
              <a:t>bp</a:t>
            </a:r>
            <a:r>
              <a:rPr lang="nl-NL" sz="2400" dirty="0"/>
              <a:t> </a:t>
            </a:r>
            <a:r>
              <a:rPr lang="nl-NL" sz="2400" dirty="0" err="1"/>
              <a:t>reads</a:t>
            </a:r>
            <a:endParaRPr lang="nl-NL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ED512C-A791-AF4C-99F1-F7CF27FEFC42}"/>
              </a:ext>
            </a:extLst>
          </p:cNvPr>
          <p:cNvGrpSpPr/>
          <p:nvPr/>
        </p:nvGrpSpPr>
        <p:grpSpPr>
          <a:xfrm>
            <a:off x="4037687" y="2915911"/>
            <a:ext cx="1314511" cy="1010374"/>
            <a:chOff x="3617529" y="3240911"/>
            <a:chExt cx="1314511" cy="1010374"/>
          </a:xfrm>
        </p:grpSpPr>
        <p:pic>
          <p:nvPicPr>
            <p:cNvPr id="5125" name="Picture 5" descr="C:\Users\duim0101\Dropbox\Screenshots\Screenshot 2018-02-02 14.36.28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7529" y="3240911"/>
              <a:ext cx="1314511" cy="879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kstvak 15">
              <a:extLst>
                <a:ext uri="{FF2B5EF4-FFF2-40B4-BE49-F238E27FC236}">
                  <a16:creationId xmlns:a16="http://schemas.microsoft.com/office/drawing/2014/main" id="{64348F24-69DD-734A-BA36-2C7DF1136F5B}"/>
                </a:ext>
              </a:extLst>
            </p:cNvPr>
            <p:cNvSpPr txBox="1"/>
            <p:nvPr/>
          </p:nvSpPr>
          <p:spPr>
            <a:xfrm>
              <a:off x="4008898" y="4005064"/>
              <a:ext cx="6351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Ion PGM</a:t>
              </a:r>
            </a:p>
          </p:txBody>
        </p:sp>
      </p:grpSp>
      <p:pic>
        <p:nvPicPr>
          <p:cNvPr id="27" name="Picture 6">
            <a:extLst>
              <a:ext uri="{FF2B5EF4-FFF2-40B4-BE49-F238E27FC236}">
                <a16:creationId xmlns:a16="http://schemas.microsoft.com/office/drawing/2014/main" id="{0776EFD1-763C-284F-AF85-5B340384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06865" y="4454451"/>
            <a:ext cx="230505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13">
            <a:extLst>
              <a:ext uri="{FF2B5EF4-FFF2-40B4-BE49-F238E27FC236}">
                <a16:creationId xmlns:a16="http://schemas.microsoft.com/office/drawing/2014/main" id="{25B8C729-6AD5-9A41-9CA9-F7189D36F3EE}"/>
              </a:ext>
            </a:extLst>
          </p:cNvPr>
          <p:cNvSpPr txBox="1"/>
          <p:nvPr/>
        </p:nvSpPr>
        <p:spPr>
          <a:xfrm>
            <a:off x="7356764" y="4478378"/>
            <a:ext cx="4715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cheap, precise, slow, high-</a:t>
            </a:r>
            <a:r>
              <a:rPr lang="nl-NL" sz="2400" dirty="0" err="1"/>
              <a:t>throughput</a:t>
            </a:r>
            <a:r>
              <a:rPr lang="nl-NL" sz="2400" dirty="0"/>
              <a:t>, 50-300 </a:t>
            </a:r>
            <a:r>
              <a:rPr lang="nl-NL" sz="2400" dirty="0" err="1"/>
              <a:t>bp</a:t>
            </a:r>
            <a:r>
              <a:rPr lang="nl-NL" sz="2400" dirty="0"/>
              <a:t> </a:t>
            </a:r>
            <a:r>
              <a:rPr lang="nl-NL" sz="2400" dirty="0" err="1"/>
              <a:t>reads</a:t>
            </a:r>
            <a:endParaRPr lang="nl-NL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00A678-DCE4-8C4E-AA60-0ED122441AF4}"/>
              </a:ext>
            </a:extLst>
          </p:cNvPr>
          <p:cNvSpPr txBox="1"/>
          <p:nvPr/>
        </p:nvSpPr>
        <p:spPr>
          <a:xfrm>
            <a:off x="4600685" y="4890617"/>
            <a:ext cx="4064959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2000" dirty="0" err="1">
                <a:latin typeface="+mj-lt"/>
              </a:rPr>
              <a:t>ISeq</a:t>
            </a:r>
            <a:r>
              <a:rPr lang="nl-NL" sz="2000" dirty="0">
                <a:latin typeface="+mj-lt"/>
              </a:rPr>
              <a:t> – </a:t>
            </a:r>
            <a:r>
              <a:rPr lang="nl-NL" sz="2000" dirty="0" err="1">
                <a:latin typeface="+mj-lt"/>
              </a:rPr>
              <a:t>MiniSeq</a:t>
            </a:r>
            <a:r>
              <a:rPr lang="nl-NL" sz="2000" dirty="0">
                <a:latin typeface="+mj-lt"/>
              </a:rPr>
              <a:t> - </a:t>
            </a:r>
            <a:r>
              <a:rPr lang="nl-NL" sz="2000" dirty="0" err="1">
                <a:latin typeface="+mj-lt"/>
              </a:rPr>
              <a:t>MiSeq</a:t>
            </a:r>
            <a:r>
              <a:rPr lang="nl-NL" sz="20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nl-NL" sz="2000" dirty="0" err="1">
                <a:latin typeface="+mj-lt"/>
              </a:rPr>
              <a:t>NextSeq</a:t>
            </a:r>
            <a:r>
              <a:rPr lang="nl-NL" sz="2000" dirty="0">
                <a:latin typeface="+mj-lt"/>
              </a:rPr>
              <a:t> – </a:t>
            </a:r>
            <a:r>
              <a:rPr lang="nl-NL" sz="2000" dirty="0" err="1">
                <a:latin typeface="+mj-lt"/>
              </a:rPr>
              <a:t>HiSeq</a:t>
            </a:r>
            <a:r>
              <a:rPr lang="nl-NL" sz="2000" dirty="0">
                <a:latin typeface="+mj-lt"/>
              </a:rPr>
              <a:t> – </a:t>
            </a:r>
            <a:r>
              <a:rPr lang="nl-NL" sz="2000" dirty="0" err="1">
                <a:latin typeface="+mj-lt"/>
              </a:rPr>
              <a:t>HiSeqX</a:t>
            </a:r>
            <a:r>
              <a:rPr lang="nl-NL" sz="2000" dirty="0">
                <a:latin typeface="+mj-lt"/>
              </a:rPr>
              <a:t> - </a:t>
            </a:r>
            <a:r>
              <a:rPr lang="nl-NL" sz="2000" dirty="0" err="1">
                <a:latin typeface="+mj-lt"/>
              </a:rPr>
              <a:t>NovaSeq</a:t>
            </a:r>
            <a:endParaRPr lang="nl-NL" sz="2000" dirty="0">
              <a:latin typeface="+mj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1BDF32-EC04-5D47-AA31-B75BC8A298E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2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D77E-DFF1-9798-9AF5-CABBC3F1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Illumina sequencing</a:t>
            </a:r>
            <a:endParaRPr lang="nl-NL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ECB5D2-8F7A-5C60-6FE4-D021DF32F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075" y="1417281"/>
            <a:ext cx="6739060" cy="51651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6" name="Group 33">
            <a:extLst>
              <a:ext uri="{FF2B5EF4-FFF2-40B4-BE49-F238E27FC236}">
                <a16:creationId xmlns:a16="http://schemas.microsoft.com/office/drawing/2014/main" id="{5CFF4AEF-3405-9618-596E-D1EACD2EC5E2}"/>
              </a:ext>
            </a:extLst>
          </p:cNvPr>
          <p:cNvGrpSpPr/>
          <p:nvPr/>
        </p:nvGrpSpPr>
        <p:grpSpPr>
          <a:xfrm>
            <a:off x="9170258" y="1425460"/>
            <a:ext cx="2198650" cy="1581079"/>
            <a:chOff x="1940720" y="1616868"/>
            <a:chExt cx="2255044" cy="1621632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2AAD0A8B-C04C-CCF5-4F8B-4FAB9D227FEC}"/>
                </a:ext>
              </a:extLst>
            </p:cNvPr>
            <p:cNvSpPr/>
            <p:nvPr/>
          </p:nvSpPr>
          <p:spPr>
            <a:xfrm>
              <a:off x="2026444" y="1926431"/>
              <a:ext cx="990600" cy="838200"/>
            </a:xfrm>
            <a:prstGeom prst="roundRect">
              <a:avLst>
                <a:gd name="adj" fmla="val 1013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pic>
          <p:nvPicPr>
            <p:cNvPr id="8" name="Picture 7" descr="http://blogs-images.forbes.com/matthewherper/files/2012/08/Illumina_MiSeqTM_CopyRight2011-1.jpg">
              <a:extLst>
                <a:ext uri="{FF2B5EF4-FFF2-40B4-BE49-F238E27FC236}">
                  <a16:creationId xmlns:a16="http://schemas.microsoft.com/office/drawing/2014/main" id="{63F3A3E6-BBA0-D4AA-8F77-C29E33A304C3}"/>
                </a:ext>
              </a:extLst>
            </p:cNvPr>
            <p:cNvPicPr/>
            <p:nvPr/>
          </p:nvPicPr>
          <p:blipFill>
            <a:blip r:embed="rId3" cstate="hqprint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  <a:lum bright="-16000" contrast="1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0720" y="1616868"/>
              <a:ext cx="2255044" cy="1621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3F9B34D-9E2E-3F71-66CD-5AB00720C87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54AB7F-4677-3C12-7CED-453FEFFD0D51}"/>
              </a:ext>
            </a:extLst>
          </p:cNvPr>
          <p:cNvSpPr txBox="1">
            <a:spLocks/>
          </p:cNvSpPr>
          <p:nvPr/>
        </p:nvSpPr>
        <p:spPr>
          <a:xfrm>
            <a:off x="8353425" y="3522624"/>
            <a:ext cx="3838576" cy="2297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DNA sequencing depends on “reading” A/C/G/T signal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Signals: differently colored fluorophores</a:t>
            </a:r>
          </a:p>
        </p:txBody>
      </p:sp>
    </p:spTree>
    <p:extLst>
      <p:ext uri="{BB962C8B-B14F-4D97-AF65-F5344CB8AC3E}">
        <p14:creationId xmlns:p14="http://schemas.microsoft.com/office/powerpoint/2010/main" val="420963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280975"/>
            <a:ext cx="12192000" cy="1577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Color signal of a cluster is not always 100% unambiguous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EC6D18-66CA-A0B3-D2B7-B4EA5CB1C908}"/>
              </a:ext>
            </a:extLst>
          </p:cNvPr>
          <p:cNvGrpSpPr/>
          <p:nvPr/>
        </p:nvGrpSpPr>
        <p:grpSpPr>
          <a:xfrm>
            <a:off x="1385536" y="1131585"/>
            <a:ext cx="8702661" cy="4354553"/>
            <a:chOff x="1722888" y="111511"/>
            <a:chExt cx="8702661" cy="435455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86100" y="111511"/>
              <a:ext cx="1866900" cy="2497873"/>
            </a:xfrm>
            <a:prstGeom prst="rect">
              <a:avLst/>
            </a:prstGeom>
          </p:spPr>
        </p:pic>
        <p:pic>
          <p:nvPicPr>
            <p:cNvPr id="23554" name="Picture 2" descr="http://www.ebi.ac.uk/training/online/sites/ebi.ac.uk.training.online/files/user/1317/documents/illumina4.png"/>
            <p:cNvPicPr>
              <a:picLocks noChangeAspect="1" noChangeArrowheads="1"/>
            </p:cNvPicPr>
            <p:nvPr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191"/>
            <a:stretch/>
          </p:blipFill>
          <p:spPr bwMode="auto">
            <a:xfrm>
              <a:off x="4810733" y="2152891"/>
              <a:ext cx="5614816" cy="2313173"/>
            </a:xfrm>
            <a:prstGeom prst="rect">
              <a:avLst/>
            </a:prstGeom>
            <a:noFill/>
          </p:spPr>
        </p:pic>
        <p:grpSp>
          <p:nvGrpSpPr>
            <p:cNvPr id="12" name="Group 11"/>
            <p:cNvGrpSpPr/>
            <p:nvPr/>
          </p:nvGrpSpPr>
          <p:grpSpPr>
            <a:xfrm>
              <a:off x="1722888" y="1701478"/>
              <a:ext cx="3015924" cy="2662176"/>
              <a:chOff x="198888" y="1689904"/>
              <a:chExt cx="3015924" cy="26621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5" cstate="hq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8418" t="19839" r="12378" b="6622"/>
              <a:stretch/>
            </p:blipFill>
            <p:spPr>
              <a:xfrm>
                <a:off x="198888" y="2756317"/>
                <a:ext cx="2837211" cy="159576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762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1" name="Oval 20"/>
              <p:cNvSpPr/>
              <p:nvPr/>
            </p:nvSpPr>
            <p:spPr>
              <a:xfrm>
                <a:off x="1446837" y="3346505"/>
                <a:ext cx="45719" cy="45719"/>
              </a:xfrm>
              <a:prstGeom prst="ellipse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 flipV="1">
                <a:off x="1477711" y="2443942"/>
                <a:ext cx="1520413" cy="948283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endCxn id="25" idx="1"/>
              </p:cNvCxnSpPr>
              <p:nvPr/>
            </p:nvCxnSpPr>
            <p:spPr>
              <a:xfrm flipV="1">
                <a:off x="1446511" y="1806616"/>
                <a:ext cx="1088054" cy="1539889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2417853" y="1689904"/>
                <a:ext cx="796959" cy="796959"/>
              </a:xfrm>
              <a:prstGeom prst="ellipse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208481" y="2040250"/>
              <a:ext cx="1248347" cy="1621429"/>
              <a:chOff x="2662178" y="2040249"/>
              <a:chExt cx="1248347" cy="162142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665141" y="2051692"/>
                <a:ext cx="141251" cy="141251"/>
              </a:xfrm>
              <a:prstGeom prst="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2662178" y="2187616"/>
                <a:ext cx="656652" cy="1474062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803897" y="2040249"/>
                <a:ext cx="1103970" cy="1037064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3330686" y="3081839"/>
                <a:ext cx="579839" cy="579839"/>
              </a:xfrm>
              <a:prstGeom prst="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689A3F0-0B2B-1095-CD55-0C8CEE2BC6A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8CA4AB7-207D-D397-4C64-2F04F301DB26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Illumina sequencing</a:t>
            </a:r>
            <a:endParaRPr lang="nl-NL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650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1CB87C-691A-E1C7-44CD-6B87CA03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314" y="1143000"/>
            <a:ext cx="6246223" cy="36742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BDA52C-0945-6EB7-E40F-BAA9D9FA560C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Illumina sequencing – quality scores bases</a:t>
            </a:r>
            <a:endParaRPr lang="nl-NL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6B41A-0C4D-14AD-1A62-666D1D002499}"/>
              </a:ext>
            </a:extLst>
          </p:cNvPr>
          <p:cNvSpPr txBox="1">
            <a:spLocks/>
          </p:cNvSpPr>
          <p:nvPr/>
        </p:nvSpPr>
        <p:spPr>
          <a:xfrm>
            <a:off x="7997190" y="3856208"/>
            <a:ext cx="3838576" cy="25358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Phasing:</a:t>
            </a:r>
          </a:p>
          <a:p>
            <a:pPr>
              <a:buFontTx/>
              <a:buChar char="-"/>
            </a:pPr>
            <a:r>
              <a:rPr lang="en-US" sz="2400" dirty="0"/>
              <a:t>The blocker of a nucleotide is not correctly removed after signal detection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A nucleotide has a defect terminator cap (</a:t>
            </a:r>
            <a:r>
              <a:rPr lang="en-US" sz="2400" dirty="0" err="1"/>
              <a:t>prephasing</a:t>
            </a:r>
            <a:r>
              <a:rPr lang="en-US" sz="2400" dirty="0"/>
              <a:t>) and two nucleotides can bind in one cycle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3B188F3-3966-F350-09B0-C3449FD9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55131" y="1232807"/>
            <a:ext cx="4122694" cy="23240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44A030-C6ED-DE68-0418-44658DC6B5FB}"/>
              </a:ext>
            </a:extLst>
          </p:cNvPr>
          <p:cNvSpPr txBox="1">
            <a:spLocks/>
          </p:cNvSpPr>
          <p:nvPr/>
        </p:nvSpPr>
        <p:spPr>
          <a:xfrm>
            <a:off x="210637" y="5386308"/>
            <a:ext cx="7479575" cy="1427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Main reason for decreasing sequence quality: </a:t>
            </a:r>
          </a:p>
          <a:p>
            <a:pPr algn="ctr">
              <a:buFontTx/>
              <a:buChar char="-"/>
            </a:pPr>
            <a:r>
              <a:rPr lang="en-US" sz="2400" dirty="0"/>
              <a:t>Phasing</a:t>
            </a:r>
          </a:p>
          <a:p>
            <a:pPr algn="ctr">
              <a:buFontTx/>
              <a:buChar char="-"/>
            </a:pPr>
            <a:r>
              <a:rPr lang="en-US" sz="2400" dirty="0"/>
              <a:t>Decrease of fluorescent signal </a:t>
            </a:r>
            <a:r>
              <a:rPr lang="en-US" sz="2400"/>
              <a:t>over time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E6E80-28AD-4F01-71E8-C18FD2FD61E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9144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1828800" y="1116875"/>
            <a:ext cx="8839200" cy="3799951"/>
          </a:xfrm>
        </p:spPr>
        <p:txBody>
          <a:bodyPr wrap="square">
            <a:spAutoFit/>
          </a:bodyPr>
          <a:lstStyle>
            <a:defPPr marL="34272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1423"/>
              </a:spcAft>
              <a:buNone/>
              <a:tabLst>
                <a:tab pos="342720" algn="l"/>
                <a:tab pos="456840" algn="l"/>
                <a:tab pos="914039" algn="l"/>
                <a:tab pos="1371239" algn="l"/>
                <a:tab pos="1828439" algn="l"/>
                <a:tab pos="2285639" algn="l"/>
                <a:tab pos="2742839" algn="l"/>
                <a:tab pos="3200040" algn="l"/>
                <a:tab pos="3657239" algn="l"/>
                <a:tab pos="4114440" algn="l"/>
                <a:tab pos="4571639" algn="l"/>
                <a:tab pos="5028839" algn="l"/>
                <a:tab pos="5486039" algn="l"/>
                <a:tab pos="5943240" algn="l"/>
                <a:tab pos="6400440" algn="l"/>
                <a:tab pos="6857640" algn="l"/>
                <a:tab pos="7314840" algn="l"/>
                <a:tab pos="7772040" algn="l"/>
                <a:tab pos="8229240" algn="l"/>
                <a:tab pos="8686440" algn="l"/>
                <a:tab pos="9143639" algn="l"/>
              </a:tabLst>
              <a:defRPr lang="en-US" sz="3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defPPr>
            <a:lvl1pPr marL="342720" marR="0" lvl="0" indent="0" algn="l" rtl="0" hangingPunct="0">
              <a:lnSpc>
                <a:spcPct val="93000"/>
              </a:lnSpc>
              <a:spcBef>
                <a:spcPts val="0"/>
              </a:spcBef>
              <a:spcAft>
                <a:spcPts val="1423"/>
              </a:spcAft>
              <a:buNone/>
              <a:tabLst>
                <a:tab pos="342720" algn="l"/>
                <a:tab pos="456840" algn="l"/>
                <a:tab pos="914039" algn="l"/>
                <a:tab pos="1371239" algn="l"/>
                <a:tab pos="1828439" algn="l"/>
                <a:tab pos="2285639" algn="l"/>
                <a:tab pos="2742839" algn="l"/>
                <a:tab pos="3200040" algn="l"/>
                <a:tab pos="3657239" algn="l"/>
                <a:tab pos="4114440" algn="l"/>
                <a:tab pos="4571639" algn="l"/>
                <a:tab pos="5028839" algn="l"/>
                <a:tab pos="5486039" algn="l"/>
                <a:tab pos="5943240" algn="l"/>
                <a:tab pos="6400440" algn="l"/>
                <a:tab pos="6857640" algn="l"/>
                <a:tab pos="7314840" algn="l"/>
                <a:tab pos="7772040" algn="l"/>
                <a:tab pos="8229240" algn="l"/>
                <a:tab pos="8686440" algn="l"/>
                <a:tab pos="9143639" algn="l"/>
              </a:tabLst>
              <a:defRPr lang="en-US" sz="3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1pPr>
            <a:lvl2pPr marL="742680" marR="0" lvl="1" indent="-285480" algn="l" rtl="0" hangingPunct="0">
              <a:lnSpc>
                <a:spcPct val="93000"/>
              </a:lnSpc>
              <a:spcBef>
                <a:spcPts val="0"/>
              </a:spcBef>
              <a:spcAft>
                <a:spcPts val="1137"/>
              </a:spcAft>
              <a:buClr>
                <a:srgbClr val="000000"/>
              </a:buClr>
              <a:buSzPct val="100000"/>
              <a:buFont typeface="Times New Roman" pitchFamily="17"/>
              <a:buChar char="–"/>
              <a:tabLst>
                <a:tab pos="742680" algn="l"/>
                <a:tab pos="914040" algn="l"/>
                <a:tab pos="1371239" algn="l"/>
                <a:tab pos="1828439" algn="l"/>
                <a:tab pos="2285640" algn="l"/>
                <a:tab pos="2742840" algn="l"/>
                <a:tab pos="3200039" algn="l"/>
                <a:tab pos="3657240" algn="l"/>
                <a:tab pos="4114440" algn="l"/>
                <a:tab pos="4571639" algn="l"/>
                <a:tab pos="5028840" algn="l"/>
                <a:tab pos="5486040" algn="l"/>
                <a:tab pos="5943239" algn="l"/>
                <a:tab pos="6400439" algn="l"/>
                <a:tab pos="6857639" algn="l"/>
                <a:tab pos="7314840" algn="l"/>
                <a:tab pos="7772039" algn="l"/>
                <a:tab pos="8229239" algn="l"/>
                <a:tab pos="8686439" algn="l"/>
                <a:tab pos="9143640" algn="l"/>
                <a:tab pos="9600840" algn="l"/>
              </a:tabLst>
              <a:defRPr lang="en-US" sz="28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2pPr>
            <a:lvl3pPr marL="1143000" marR="0" lvl="2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848"/>
              </a:spcAft>
              <a:buClr>
                <a:srgbClr val="000000"/>
              </a:buClr>
              <a:buSzPct val="100000"/>
              <a:buFont typeface="Times New Roman" pitchFamily="17"/>
              <a:buChar char="•"/>
              <a:tabLst>
                <a:tab pos="1142999" algn="l"/>
                <a:tab pos="1371599" algn="l"/>
                <a:tab pos="1828799" algn="l"/>
                <a:tab pos="2285998" algn="l"/>
                <a:tab pos="2743199" algn="l"/>
                <a:tab pos="3200398" algn="l"/>
                <a:tab pos="3657599" algn="l"/>
                <a:tab pos="4114799" algn="l"/>
                <a:tab pos="4571999" algn="l"/>
                <a:tab pos="5029198" algn="l"/>
                <a:tab pos="5486399" algn="l"/>
                <a:tab pos="5943599" algn="l"/>
                <a:tab pos="6400799" algn="l"/>
                <a:tab pos="6857999" algn="l"/>
                <a:tab pos="7315198" algn="l"/>
                <a:tab pos="7772398" algn="l"/>
                <a:tab pos="8229598" algn="l"/>
                <a:tab pos="8686798" algn="l"/>
                <a:tab pos="9143998" algn="l"/>
                <a:tab pos="9601198" algn="l"/>
                <a:tab pos="10058398" algn="l"/>
              </a:tabLst>
              <a:defRPr lang="en-US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3pPr>
            <a:lvl4pPr marL="1600199" marR="0" lvl="3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573"/>
              </a:spcAft>
              <a:buClr>
                <a:srgbClr val="000000"/>
              </a:buClr>
              <a:buSzPct val="100000"/>
              <a:buFont typeface="Times New Roman" pitchFamily="17"/>
              <a:buChar char="–"/>
              <a:tabLst>
                <a:tab pos="1600200" algn="l"/>
                <a:tab pos="1828800" algn="l"/>
                <a:tab pos="2286000" algn="l"/>
                <a:tab pos="2743199" algn="l"/>
                <a:tab pos="3200400" algn="l"/>
                <a:tab pos="3657599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800" algn="l"/>
                <a:tab pos="6858000" algn="l"/>
                <a:tab pos="7315200" algn="l"/>
                <a:tab pos="7772399" algn="l"/>
                <a:tab pos="8229599" algn="l"/>
                <a:tab pos="8686799" algn="l"/>
                <a:tab pos="9143999" algn="l"/>
                <a:tab pos="9601199" algn="l"/>
                <a:tab pos="10058399" algn="l"/>
                <a:tab pos="10515599" algn="l"/>
              </a:tabLst>
              <a:defRPr lang="en-US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4pPr>
            <a:lvl5pPr marL="2057400" marR="0" lvl="4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286"/>
              </a:spcAft>
              <a:buClr>
                <a:srgbClr val="000000"/>
              </a:buClr>
              <a:buSzPct val="100000"/>
              <a:buFont typeface="Times New Roman" pitchFamily="17"/>
              <a:buChar char="»"/>
              <a:tabLst>
                <a:tab pos="2057399" algn="l"/>
                <a:tab pos="2285999" algn="l"/>
                <a:tab pos="2743199" algn="l"/>
                <a:tab pos="3200398" algn="l"/>
                <a:tab pos="3657599" algn="l"/>
                <a:tab pos="4114798" algn="l"/>
                <a:tab pos="4571999" algn="l"/>
                <a:tab pos="5029199" algn="l"/>
                <a:tab pos="5486399" algn="l"/>
                <a:tab pos="5943598" algn="l"/>
                <a:tab pos="6400799" algn="l"/>
                <a:tab pos="6857999" algn="l"/>
                <a:tab pos="7315199" algn="l"/>
                <a:tab pos="7772399" algn="l"/>
                <a:tab pos="8229598" algn="l"/>
                <a:tab pos="8686798" algn="l"/>
                <a:tab pos="9143998" algn="l"/>
                <a:tab pos="9601198" algn="l"/>
                <a:tab pos="10058398" algn="l"/>
                <a:tab pos="10515598" algn="l"/>
              </a:tabLst>
              <a:defRPr lang="en-US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5pPr>
            <a:lvl6pPr marL="2057400" marR="0" lvl="5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286"/>
              </a:spcAft>
              <a:buClr>
                <a:srgbClr val="000000"/>
              </a:buClr>
              <a:buSzPct val="100000"/>
              <a:buFont typeface="Times New Roman" pitchFamily="17"/>
              <a:buChar char="»"/>
              <a:tabLst>
                <a:tab pos="2057399" algn="l"/>
                <a:tab pos="2285999" algn="l"/>
                <a:tab pos="2743199" algn="l"/>
                <a:tab pos="3200398" algn="l"/>
                <a:tab pos="3657599" algn="l"/>
                <a:tab pos="4114798" algn="l"/>
                <a:tab pos="4571999" algn="l"/>
                <a:tab pos="5029199" algn="l"/>
                <a:tab pos="5486399" algn="l"/>
                <a:tab pos="5943598" algn="l"/>
                <a:tab pos="6400799" algn="l"/>
                <a:tab pos="6857999" algn="l"/>
                <a:tab pos="7315199" algn="l"/>
                <a:tab pos="7772399" algn="l"/>
                <a:tab pos="8229598" algn="l"/>
                <a:tab pos="8686798" algn="l"/>
                <a:tab pos="9143998" algn="l"/>
                <a:tab pos="9601198" algn="l"/>
                <a:tab pos="10058398" algn="l"/>
                <a:tab pos="10515598" algn="l"/>
              </a:tabLst>
              <a:defRPr lang="en-US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6pPr>
            <a:lvl7pPr marL="2057400" marR="0" lvl="6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286"/>
              </a:spcAft>
              <a:buClr>
                <a:srgbClr val="000000"/>
              </a:buClr>
              <a:buSzPct val="100000"/>
              <a:buFont typeface="Times New Roman" pitchFamily="17"/>
              <a:buChar char="»"/>
              <a:tabLst>
                <a:tab pos="2057399" algn="l"/>
                <a:tab pos="2285999" algn="l"/>
                <a:tab pos="2743199" algn="l"/>
                <a:tab pos="3200398" algn="l"/>
                <a:tab pos="3657599" algn="l"/>
                <a:tab pos="4114798" algn="l"/>
                <a:tab pos="4571999" algn="l"/>
                <a:tab pos="5029199" algn="l"/>
                <a:tab pos="5486399" algn="l"/>
                <a:tab pos="5943598" algn="l"/>
                <a:tab pos="6400799" algn="l"/>
                <a:tab pos="6857999" algn="l"/>
                <a:tab pos="7315199" algn="l"/>
                <a:tab pos="7772399" algn="l"/>
                <a:tab pos="8229598" algn="l"/>
                <a:tab pos="8686798" algn="l"/>
                <a:tab pos="9143998" algn="l"/>
                <a:tab pos="9601198" algn="l"/>
                <a:tab pos="10058398" algn="l"/>
                <a:tab pos="10515598" algn="l"/>
              </a:tabLst>
              <a:defRPr lang="en-US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7pPr>
            <a:lvl8pPr marL="2057400" marR="0" lvl="7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286"/>
              </a:spcAft>
              <a:buClr>
                <a:srgbClr val="000000"/>
              </a:buClr>
              <a:buSzPct val="100000"/>
              <a:buFont typeface="Times New Roman" pitchFamily="17"/>
              <a:buChar char="»"/>
              <a:tabLst>
                <a:tab pos="2057399" algn="l"/>
                <a:tab pos="2285999" algn="l"/>
                <a:tab pos="2743199" algn="l"/>
                <a:tab pos="3200398" algn="l"/>
                <a:tab pos="3657599" algn="l"/>
                <a:tab pos="4114798" algn="l"/>
                <a:tab pos="4571999" algn="l"/>
                <a:tab pos="5029199" algn="l"/>
                <a:tab pos="5486399" algn="l"/>
                <a:tab pos="5943598" algn="l"/>
                <a:tab pos="6400799" algn="l"/>
                <a:tab pos="6857999" algn="l"/>
                <a:tab pos="7315199" algn="l"/>
                <a:tab pos="7772399" algn="l"/>
                <a:tab pos="8229598" algn="l"/>
                <a:tab pos="8686798" algn="l"/>
                <a:tab pos="9143998" algn="l"/>
                <a:tab pos="9601198" algn="l"/>
                <a:tab pos="10058398" algn="l"/>
                <a:tab pos="10515598" algn="l"/>
              </a:tabLst>
              <a:defRPr lang="en-US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8pPr>
            <a:lvl9pPr marL="2057400" marR="0" lvl="8" indent="-228600" algn="l" rtl="0" hangingPunct="0">
              <a:lnSpc>
                <a:spcPct val="93000"/>
              </a:lnSpc>
              <a:spcBef>
                <a:spcPts val="0"/>
              </a:spcBef>
              <a:spcAft>
                <a:spcPts val="286"/>
              </a:spcAft>
              <a:buClr>
                <a:srgbClr val="000000"/>
              </a:buClr>
              <a:buSzPct val="100000"/>
              <a:buFont typeface="Times New Roman" pitchFamily="17"/>
              <a:buChar char="»"/>
              <a:tabLst>
                <a:tab pos="2057399" algn="l"/>
                <a:tab pos="2285999" algn="l"/>
                <a:tab pos="2743199" algn="l"/>
                <a:tab pos="3200398" algn="l"/>
                <a:tab pos="3657599" algn="l"/>
                <a:tab pos="4114798" algn="l"/>
                <a:tab pos="4571999" algn="l"/>
                <a:tab pos="5029199" algn="l"/>
                <a:tab pos="5486399" algn="l"/>
                <a:tab pos="5943598" algn="l"/>
                <a:tab pos="6400799" algn="l"/>
                <a:tab pos="6857999" algn="l"/>
                <a:tab pos="7315199" algn="l"/>
                <a:tab pos="7772399" algn="l"/>
                <a:tab pos="8229598" algn="l"/>
                <a:tab pos="8686798" algn="l"/>
                <a:tab pos="9143998" algn="l"/>
                <a:tab pos="9601198" algn="l"/>
                <a:tab pos="10058398" algn="l"/>
                <a:tab pos="10515598" algn="l"/>
              </a:tabLst>
              <a:defRPr lang="en-US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"/>
                <a:ea typeface="DejaVu Sans" pitchFamily="2"/>
                <a:cs typeface="DejaVu Sans" pitchFamily="2"/>
              </a:defRPr>
            </a:lvl9pPr>
          </a:lstStyle>
          <a:p>
            <a:pPr marL="0">
              <a:buClr>
                <a:srgbClr val="000000"/>
              </a:buClr>
              <a:buSzPct val="45000"/>
              <a:buFont typeface="Wingdings" pitchFamily="1"/>
              <a:buChar char=""/>
            </a:pPr>
            <a:r>
              <a:rPr lang="en-US" dirty="0">
                <a:latin typeface="" pitchFamily="16"/>
              </a:rPr>
              <a:t> </a:t>
            </a:r>
            <a:r>
              <a:rPr lang="en-US" sz="2800" dirty="0">
                <a:latin typeface="" pitchFamily="16"/>
              </a:rPr>
              <a:t>Phred 10: 10</a:t>
            </a:r>
            <a:r>
              <a:rPr lang="en-US" sz="2800" baseline="33000" dirty="0">
                <a:latin typeface="" pitchFamily="16"/>
              </a:rPr>
              <a:t>-1</a:t>
            </a:r>
            <a:r>
              <a:rPr lang="en-US" sz="2800" dirty="0">
                <a:latin typeface="" pitchFamily="16"/>
              </a:rPr>
              <a:t> chance that the base is wrong</a:t>
            </a:r>
          </a:p>
          <a:p>
            <a:pPr marL="399960" lvl="1">
              <a:buSzPct val="45000"/>
              <a:buFont typeface="Wingdings" pitchFamily="1"/>
              <a:buChar char=""/>
            </a:pPr>
            <a:r>
              <a:rPr lang="en-US" sz="2400" dirty="0">
                <a:latin typeface="" pitchFamily="16"/>
              </a:rPr>
              <a:t>90% accuracy; 10% error rate</a:t>
            </a:r>
          </a:p>
          <a:p>
            <a:pPr marL="399960" lvl="1">
              <a:buSzPct val="45000"/>
              <a:buFont typeface="Wingdings" pitchFamily="1"/>
              <a:buChar char=""/>
            </a:pPr>
            <a:endParaRPr lang="en-US" sz="1000" dirty="0">
              <a:latin typeface="" pitchFamily="16"/>
            </a:endParaRPr>
          </a:p>
          <a:p>
            <a:pPr marL="0">
              <a:buClr>
                <a:srgbClr val="000000"/>
              </a:buClr>
              <a:buSzPct val="45000"/>
              <a:buFont typeface="Wingdings" pitchFamily="1"/>
              <a:buChar char=""/>
            </a:pPr>
            <a:r>
              <a:rPr lang="en-US" sz="2800" dirty="0">
                <a:latin typeface="" pitchFamily="16"/>
              </a:rPr>
              <a:t> Phred 20: 10</a:t>
            </a:r>
            <a:r>
              <a:rPr lang="en-US" sz="2800" baseline="33000" dirty="0">
                <a:latin typeface="" pitchFamily="16"/>
              </a:rPr>
              <a:t>-2</a:t>
            </a:r>
            <a:r>
              <a:rPr lang="en-US" sz="2800" dirty="0">
                <a:latin typeface="" pitchFamily="16"/>
              </a:rPr>
              <a:t> chance that the base is wrong</a:t>
            </a:r>
          </a:p>
          <a:p>
            <a:pPr marL="399960" lvl="1">
              <a:buSzPct val="45000"/>
              <a:buFont typeface="Wingdings" pitchFamily="1"/>
              <a:buChar char=""/>
            </a:pPr>
            <a:r>
              <a:rPr lang="en-US" sz="2400" dirty="0">
                <a:latin typeface="" pitchFamily="16"/>
              </a:rPr>
              <a:t>99% accuracy ; 1% error rate</a:t>
            </a:r>
          </a:p>
          <a:p>
            <a:pPr marL="399960" lvl="1">
              <a:buSzPct val="45000"/>
              <a:buFont typeface="Wingdings" pitchFamily="1"/>
              <a:buChar char=""/>
            </a:pPr>
            <a:endParaRPr lang="en-US" sz="1000" dirty="0">
              <a:latin typeface="" pitchFamily="16"/>
            </a:endParaRPr>
          </a:p>
          <a:p>
            <a:pPr marL="0">
              <a:buClr>
                <a:srgbClr val="000000"/>
              </a:buClr>
              <a:buSzPct val="45000"/>
              <a:buFont typeface="Wingdings" pitchFamily="1"/>
              <a:buChar char=""/>
            </a:pPr>
            <a:r>
              <a:rPr lang="en-US" sz="2800" dirty="0">
                <a:latin typeface="" pitchFamily="16"/>
              </a:rPr>
              <a:t> Phred 30: 10</a:t>
            </a:r>
            <a:r>
              <a:rPr lang="en-US" sz="2800" baseline="33000" dirty="0">
                <a:latin typeface="" pitchFamily="16"/>
              </a:rPr>
              <a:t>-3</a:t>
            </a:r>
            <a:r>
              <a:rPr lang="en-US" sz="2800" dirty="0">
                <a:latin typeface="" pitchFamily="16"/>
              </a:rPr>
              <a:t> chance that the base is wrong</a:t>
            </a:r>
          </a:p>
          <a:p>
            <a:pPr marL="399960" lvl="1">
              <a:buSzPct val="45000"/>
              <a:buFont typeface="Wingdings" pitchFamily="1"/>
              <a:buChar char=""/>
            </a:pPr>
            <a:r>
              <a:rPr lang="en-US" sz="2400" dirty="0">
                <a:latin typeface="" pitchFamily="16"/>
              </a:rPr>
              <a:t>99.9% accuracy ; 0.1% error rate</a:t>
            </a:r>
            <a:endParaRPr lang="en-US" sz="2800" dirty="0">
              <a:latin typeface="" pitchFamily="16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2E234-E3CA-8E7C-8C6B-25E20FF45F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9BB0BC-7C3D-136E-0035-3F494EC93160}"/>
              </a:ext>
            </a:extLst>
          </p:cNvPr>
          <p:cNvSpPr txBox="1">
            <a:spLocks/>
          </p:cNvSpPr>
          <p:nvPr/>
        </p:nvSpPr>
        <p:spPr>
          <a:xfrm>
            <a:off x="609600" y="-1"/>
            <a:ext cx="10972800" cy="936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Quality scores </a:t>
            </a:r>
            <a:endParaRPr lang="nl-NL" dirty="0">
              <a:solidFill>
                <a:schemeClr val="accent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1D4969-B6C0-B9B3-085C-F7520AE9A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27658" y="4819217"/>
            <a:ext cx="7886079" cy="199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02245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1980192" y="6677"/>
            <a:ext cx="8226804" cy="769441"/>
          </a:xfrm>
        </p:spPr>
        <p:txBody>
          <a:bodyPr wrap="square"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en-US" dirty="0">
                <a:solidFill>
                  <a:schemeClr val="accent1"/>
                </a:solidFill>
              </a:rPr>
              <a:t>Phred score in ASCII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" y="953395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2800" dirty="0" err="1">
                <a:solidFill>
                  <a:prstClr val="black"/>
                </a:solidFill>
                <a:latin typeface="" pitchFamily="16"/>
              </a:rPr>
              <a:t>Fastq</a:t>
            </a:r>
            <a:r>
              <a:rPr lang="en-US" sz="2800" dirty="0">
                <a:solidFill>
                  <a:prstClr val="black"/>
                </a:solidFill>
                <a:latin typeface="" pitchFamily="16"/>
              </a:rPr>
              <a:t> quality score = Phred score -&gt; converted to ASCII text</a:t>
            </a:r>
          </a:p>
          <a:p>
            <a:pPr algn="ctr">
              <a:buClr>
                <a:srgbClr val="000000"/>
              </a:buClr>
              <a:buSzPct val="45000"/>
            </a:pPr>
            <a:endParaRPr lang="en-US" sz="2800" dirty="0">
              <a:solidFill>
                <a:prstClr val="black"/>
              </a:solidFill>
              <a:latin typeface="" pitchFamily="16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5711B74-2A82-3D4F-634D-63C40A8D6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4856" y="1628997"/>
            <a:ext cx="7620000" cy="5067300"/>
          </a:xfrm>
          <a:prstGeom prst="rect">
            <a:avLst/>
          </a:prstGeom>
          <a:ln w="3175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385A81-B8FC-C4B5-4E1B-3F054817D9B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1800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1600200" y="457200"/>
            <a:ext cx="8991600" cy="585430"/>
          </a:xfrm>
        </p:spPr>
        <p:txBody>
          <a:bodyPr>
            <a:normAutofit fontScale="92500"/>
          </a:bodyPr>
          <a:lstStyle/>
          <a:p>
            <a:r>
              <a:rPr lang="en-US" dirty="0"/>
              <a:t>Sequence and quality scores are stored in </a:t>
            </a:r>
            <a:r>
              <a:rPr lang="en-US" dirty="0" err="1"/>
              <a:t>Fastq</a:t>
            </a:r>
            <a:r>
              <a:rPr lang="en-US" dirty="0"/>
              <a:t> files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5334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Fastq</a:t>
            </a:r>
            <a:r>
              <a:rPr lang="en-US" dirty="0">
                <a:solidFill>
                  <a:schemeClr val="accent1"/>
                </a:solidFill>
              </a:rPr>
              <a:t>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1496" y="2634221"/>
            <a:ext cx="8409008" cy="2153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@</a:t>
            </a:r>
            <a:r>
              <a:rPr lang="fi-FI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NS500413:192:HCVY7AFXX:1:11101:10153:1038 1:N:0:AGTCAA</a:t>
            </a:r>
            <a:endParaRPr lang="en-US" dirty="0">
              <a:solidFill>
                <a:srgbClr val="000000"/>
              </a:solidFill>
              <a:latin typeface="Courier New" pitchFamily="17"/>
              <a:ea typeface="Courier New" pitchFamily="1"/>
              <a:cs typeface="Courier New" pitchFamily="1"/>
            </a:endParaRP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TGCACCCGCGTGATCGCGGTTTCCTGGGGCGCCACGGCGGCGGTCATCGGGCTGAACTGG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+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JJJJJJJFF/EAEEEAAAEEEE//EEEE/A&lt;//&lt;&lt;&lt;&lt;6/&lt;&lt;/&lt;A&lt;&lt;AEAEE//AA6/&lt;//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@</a:t>
            </a:r>
            <a:r>
              <a:rPr lang="fi-FI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NS500413:192:HCVY7AFXX:1:11101:19723:1039 1:N:0:AGTCAA</a:t>
            </a:r>
            <a:endParaRPr lang="en-US" dirty="0">
              <a:solidFill>
                <a:srgbClr val="000000"/>
              </a:solidFill>
              <a:latin typeface="Courier New" pitchFamily="17"/>
              <a:ea typeface="Courier New" pitchFamily="1"/>
              <a:cs typeface="Courier New" pitchFamily="1"/>
            </a:endParaRP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GGAAATGGAGTACGGATCGATTTTGTTTGG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+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JJJJJJJJJJJJJJJJ7FAEA715511E00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1853146" y="1221604"/>
            <a:ext cx="3976636" cy="1475755"/>
            <a:chOff x="4498196" y="-445532"/>
            <a:chExt cx="3976636" cy="1475755"/>
          </a:xfrm>
        </p:grpSpPr>
        <p:sp>
          <p:nvSpPr>
            <p:cNvPr id="9" name="TextBox 8"/>
            <p:cNvSpPr txBox="1"/>
            <p:nvPr/>
          </p:nvSpPr>
          <p:spPr>
            <a:xfrm>
              <a:off x="4498196" y="-445532"/>
              <a:ext cx="3976636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Every new entry starts with an “@” sign at the start of a line followed by an ID.</a:t>
              </a:r>
            </a:p>
          </p:txBody>
        </p:sp>
        <p:cxnSp>
          <p:nvCxnSpPr>
            <p:cNvPr id="10" name="Straight Arrow Connector 9"/>
            <p:cNvCxnSpPr>
              <a:stCxn id="9" idx="2"/>
            </p:cNvCxnSpPr>
            <p:nvPr/>
          </p:nvCxnSpPr>
          <p:spPr>
            <a:xfrm flipH="1">
              <a:off x="4724635" y="200799"/>
              <a:ext cx="1761879" cy="8294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3"/>
          <p:cNvGrpSpPr/>
          <p:nvPr/>
        </p:nvGrpSpPr>
        <p:grpSpPr>
          <a:xfrm>
            <a:off x="6142300" y="4606724"/>
            <a:ext cx="4247909" cy="1605588"/>
            <a:chOff x="70249" y="253474"/>
            <a:chExt cx="4247909" cy="1605588"/>
          </a:xfrm>
        </p:grpSpPr>
        <p:sp>
          <p:nvSpPr>
            <p:cNvPr id="15" name="TextBox 14"/>
            <p:cNvSpPr txBox="1"/>
            <p:nvPr/>
          </p:nvSpPr>
          <p:spPr>
            <a:xfrm>
              <a:off x="164327" y="1212731"/>
              <a:ext cx="4153831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Fourth, the string of quality scores for each nucleotide is given on the fourth line.</a:t>
              </a:r>
            </a:p>
          </p:txBody>
        </p:sp>
        <p:cxnSp>
          <p:nvCxnSpPr>
            <p:cNvPr id="16" name="Straight Arrow Connector 15"/>
            <p:cNvCxnSpPr>
              <a:stCxn id="15" idx="0"/>
            </p:cNvCxnSpPr>
            <p:nvPr/>
          </p:nvCxnSpPr>
          <p:spPr>
            <a:xfrm flipH="1" flipV="1">
              <a:off x="70249" y="253474"/>
              <a:ext cx="2170994" cy="95925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20"/>
          <p:cNvGrpSpPr/>
          <p:nvPr/>
        </p:nvGrpSpPr>
        <p:grpSpPr>
          <a:xfrm>
            <a:off x="1905000" y="4340506"/>
            <a:ext cx="3924782" cy="1922880"/>
            <a:chOff x="880316" y="341488"/>
            <a:chExt cx="3924782" cy="1922880"/>
          </a:xfrm>
        </p:grpSpPr>
        <p:sp>
          <p:nvSpPr>
            <p:cNvPr id="22" name="TextBox 21"/>
            <p:cNvSpPr txBox="1"/>
            <p:nvPr/>
          </p:nvSpPr>
          <p:spPr>
            <a:xfrm>
              <a:off x="880316" y="1618037"/>
              <a:ext cx="3924782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Third, there is a line starting with +. This line can optionally contain the ID again.</a:t>
              </a:r>
            </a:p>
          </p:txBody>
        </p:sp>
        <p:cxnSp>
          <p:nvCxnSpPr>
            <p:cNvPr id="23" name="Straight Arrow Connector 22"/>
            <p:cNvCxnSpPr>
              <a:stCxn id="22" idx="0"/>
            </p:cNvCxnSpPr>
            <p:nvPr/>
          </p:nvCxnSpPr>
          <p:spPr>
            <a:xfrm flipH="1" flipV="1">
              <a:off x="1216946" y="341488"/>
              <a:ext cx="1625761" cy="12765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13"/>
          <p:cNvGrpSpPr/>
          <p:nvPr/>
        </p:nvGrpSpPr>
        <p:grpSpPr>
          <a:xfrm>
            <a:off x="7317613" y="1279639"/>
            <a:ext cx="2239219" cy="1764502"/>
            <a:chOff x="810541" y="1062051"/>
            <a:chExt cx="2239219" cy="1764502"/>
          </a:xfrm>
        </p:grpSpPr>
        <p:sp>
          <p:nvSpPr>
            <p:cNvPr id="32" name="TextBox 31"/>
            <p:cNvSpPr txBox="1"/>
            <p:nvPr/>
          </p:nvSpPr>
          <p:spPr>
            <a:xfrm>
              <a:off x="810541" y="1062051"/>
              <a:ext cx="2239219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The sequence is given on the second line.</a:t>
              </a:r>
            </a:p>
          </p:txBody>
        </p:sp>
        <p:cxnSp>
          <p:nvCxnSpPr>
            <p:cNvPr id="33" name="Straight Arrow Connector 32"/>
            <p:cNvCxnSpPr>
              <a:stCxn id="32" idx="2"/>
            </p:cNvCxnSpPr>
            <p:nvPr/>
          </p:nvCxnSpPr>
          <p:spPr>
            <a:xfrm flipH="1">
              <a:off x="1448112" y="1708382"/>
              <a:ext cx="482039" cy="11181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4E265DF-A197-9475-DA17-2B3AFDA400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0632"/>
            <a:ext cx="9144000" cy="8351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Phred scores in </a:t>
            </a:r>
            <a:r>
              <a:rPr lang="en-US" dirty="0" err="1">
                <a:solidFill>
                  <a:schemeClr val="accent1"/>
                </a:solidFill>
              </a:rPr>
              <a:t>fastq</a:t>
            </a:r>
            <a:r>
              <a:rPr lang="en-US" dirty="0">
                <a:solidFill>
                  <a:schemeClr val="accent1"/>
                </a:solidFill>
              </a:rPr>
              <a:t> files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4EEB14-439B-E974-8FAE-EDB2D6C54D9F}"/>
              </a:ext>
            </a:extLst>
          </p:cNvPr>
          <p:cNvGrpSpPr/>
          <p:nvPr/>
        </p:nvGrpSpPr>
        <p:grpSpPr>
          <a:xfrm>
            <a:off x="424203" y="1337674"/>
            <a:ext cx="8498713" cy="4932673"/>
            <a:chOff x="1891496" y="1279639"/>
            <a:chExt cx="8498713" cy="4932673"/>
          </a:xfrm>
        </p:grpSpPr>
        <p:sp>
          <p:nvSpPr>
            <p:cNvPr id="5" name="Rectangle 4"/>
            <p:cNvSpPr/>
            <p:nvPr/>
          </p:nvSpPr>
          <p:spPr>
            <a:xfrm>
              <a:off x="1891496" y="1337047"/>
              <a:ext cx="8409008" cy="21534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@</a:t>
              </a:r>
              <a:r>
                <a:rPr lang="fi-FI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NS500413:192:HCVY7AFXX:1:11101:10153:1038 1:N:0:AGTCAA</a:t>
              </a:r>
              <a:endPara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endParaRP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TGCACCCGCGTGATCGCGGTTTCCTGGGGCGCCACGGCGGCGGTCATCGGGCTGAACTGG</a:t>
              </a: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+</a:t>
              </a: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JJJJJJJFF/EAEEEAAAEEEE//EEEE/A&lt;//&lt;&lt;&lt;&lt;6/&lt;&lt;/&lt;A&lt;&lt;AEAEE//AA6/&lt;//</a:t>
              </a: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@</a:t>
              </a:r>
              <a:r>
                <a:rPr lang="fi-FI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NS500413:192:HCVY7AFXX:1:11101:19723:1039 1:N:0:AGTCAA</a:t>
              </a:r>
              <a:endPara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endParaRP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GGAAATGGAGTACGGATCGATTTTGTTTGG</a:t>
              </a: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+</a:t>
              </a:r>
            </a:p>
            <a:p>
              <a:pPr hangingPunct="0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dirty="0">
                  <a:solidFill>
                    <a:srgbClr val="000000"/>
                  </a:solidFill>
                  <a:latin typeface="Courier New" pitchFamily="17"/>
                  <a:ea typeface="Courier New" pitchFamily="1"/>
                  <a:cs typeface="Courier New" pitchFamily="1"/>
                </a:rPr>
                <a:t>JJJJJJJJJJJJJJJJ7FAEA715511E00</a:t>
              </a:r>
            </a:p>
          </p:txBody>
        </p:sp>
        <p:grpSp>
          <p:nvGrpSpPr>
            <p:cNvPr id="6" name="Group 13"/>
            <p:cNvGrpSpPr/>
            <p:nvPr/>
          </p:nvGrpSpPr>
          <p:grpSpPr>
            <a:xfrm>
              <a:off x="6142300" y="4606724"/>
              <a:ext cx="4247909" cy="1605588"/>
              <a:chOff x="70249" y="253474"/>
              <a:chExt cx="4247909" cy="1605588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164327" y="1212731"/>
                <a:ext cx="4153831" cy="6463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prstClr val="black"/>
                    </a:solidFill>
                  </a:rPr>
                  <a:t>Fourth, the string of quality scores for each nucleotide is given on the fourth line.</a:t>
                </a:r>
              </a:p>
            </p:txBody>
          </p:sp>
          <p:cxnSp>
            <p:nvCxnSpPr>
              <p:cNvPr id="16" name="Straight Arrow Connector 15"/>
              <p:cNvCxnSpPr>
                <a:cxnSpLocks/>
                <a:stCxn id="15" idx="0"/>
              </p:cNvCxnSpPr>
              <p:nvPr/>
            </p:nvCxnSpPr>
            <p:spPr>
              <a:xfrm flipH="1" flipV="1">
                <a:off x="70249" y="253474"/>
                <a:ext cx="2170994" cy="95925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3"/>
            <p:cNvGrpSpPr/>
            <p:nvPr/>
          </p:nvGrpSpPr>
          <p:grpSpPr>
            <a:xfrm>
              <a:off x="7317613" y="1279639"/>
              <a:ext cx="2239219" cy="1764502"/>
              <a:chOff x="810541" y="1062051"/>
              <a:chExt cx="2239219" cy="1764502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810541" y="1062051"/>
                <a:ext cx="2239219" cy="6463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prstClr val="black"/>
                    </a:solidFill>
                  </a:rPr>
                  <a:t>The sequence is given on the second line.</a:t>
                </a:r>
              </a:p>
            </p:txBody>
          </p:sp>
          <p:cxnSp>
            <p:nvCxnSpPr>
              <p:cNvPr id="33" name="Straight Arrow Connector 32"/>
              <p:cNvCxnSpPr>
                <a:cxnSpLocks/>
                <a:stCxn id="32" idx="2"/>
              </p:cNvCxnSpPr>
              <p:nvPr/>
            </p:nvCxnSpPr>
            <p:spPr>
              <a:xfrm flipH="1">
                <a:off x="1448112" y="1708382"/>
                <a:ext cx="482039" cy="111817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C027CB45-E755-8301-67A5-69B5B04B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0578" y="1203047"/>
            <a:ext cx="7620000" cy="50673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CD257D-926A-F24D-5C53-5FB5A3FA6997}"/>
              </a:ext>
            </a:extLst>
          </p:cNvPr>
          <p:cNvSpPr txBox="1"/>
          <p:nvPr/>
        </p:nvSpPr>
        <p:spPr>
          <a:xfrm>
            <a:off x="424203" y="4040372"/>
            <a:ext cx="3508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Phred score per base:</a:t>
            </a:r>
          </a:p>
          <a:p>
            <a:endParaRPr lang="en-US" dirty="0"/>
          </a:p>
          <a:p>
            <a:r>
              <a:rPr lang="en-US" dirty="0"/>
              <a:t>J = 74</a:t>
            </a:r>
          </a:p>
          <a:p>
            <a:r>
              <a:rPr lang="en-US" dirty="0"/>
              <a:t>74 – 33 = 41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phred</a:t>
            </a:r>
            <a:r>
              <a:rPr lang="en-US" dirty="0">
                <a:sym typeface="Wingdings" panose="05000000000000000000" pitchFamily="2" charset="2"/>
              </a:rPr>
              <a:t> score</a:t>
            </a:r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3787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86871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Fastq</a:t>
            </a:r>
            <a:r>
              <a:rPr lang="en-US" dirty="0">
                <a:solidFill>
                  <a:schemeClr val="accent1"/>
                </a:solidFill>
              </a:rPr>
              <a:t>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1496" y="2634221"/>
            <a:ext cx="8409008" cy="2153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@</a:t>
            </a:r>
            <a:r>
              <a:rPr lang="fi-FI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NS500413:192:HCVY7AFXX:1:11101:10153:1038 1:N:0:AGTCAA</a:t>
            </a:r>
            <a:endParaRPr lang="en-US" dirty="0">
              <a:solidFill>
                <a:srgbClr val="000000"/>
              </a:solidFill>
              <a:latin typeface="Courier New" pitchFamily="17"/>
              <a:ea typeface="Courier New" pitchFamily="1"/>
              <a:cs typeface="Courier New" pitchFamily="1"/>
            </a:endParaRP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TGCACCCGCGTGATCGCGGTTTCCTGGGGCGCCACGGCGGCGGTCATCGGGCTGAACTGG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+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JJJJJJJFF/EAEEEAAAEEEE//EEEE/A&lt;//&lt;&lt;&lt;&lt;6/&lt;&lt;/&lt;A&lt;&lt;AEAEE//AA6/&lt;//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@</a:t>
            </a:r>
            <a:r>
              <a:rPr lang="fi-FI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NS500413:192:HCVY7AFXX:1:11101:19723:1039 1:N:0:AGTCAA</a:t>
            </a:r>
            <a:endParaRPr lang="en-US" dirty="0">
              <a:solidFill>
                <a:srgbClr val="000000"/>
              </a:solidFill>
              <a:latin typeface="Courier New" pitchFamily="17"/>
              <a:ea typeface="Courier New" pitchFamily="1"/>
              <a:cs typeface="Courier New" pitchFamily="1"/>
            </a:endParaRP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GGAAATGGAGTACGGATCGATTTTGTTTGG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+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7"/>
                <a:ea typeface="Courier New" pitchFamily="1"/>
                <a:cs typeface="Courier New" pitchFamily="1"/>
              </a:rPr>
              <a:t>JJJJJJJJJJJJJJJJ7FAEA715511E00</a:t>
            </a:r>
          </a:p>
        </p:txBody>
      </p:sp>
      <p:grpSp>
        <p:nvGrpSpPr>
          <p:cNvPr id="6" name="Group 13"/>
          <p:cNvGrpSpPr/>
          <p:nvPr/>
        </p:nvGrpSpPr>
        <p:grpSpPr>
          <a:xfrm>
            <a:off x="1846645" y="4296236"/>
            <a:ext cx="5257352" cy="2110647"/>
            <a:chOff x="-902025" y="107572"/>
            <a:chExt cx="5257352" cy="2110647"/>
          </a:xfrm>
        </p:grpSpPr>
        <p:sp>
          <p:nvSpPr>
            <p:cNvPr id="15" name="TextBox 14"/>
            <p:cNvSpPr txBox="1"/>
            <p:nvPr/>
          </p:nvSpPr>
          <p:spPr>
            <a:xfrm>
              <a:off x="-902025" y="1294889"/>
              <a:ext cx="5257352" cy="92333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Illumina reads are all the same length when they come off the sequencer. If the sequences have different lengths, they have probably been processed.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1776937" y="107572"/>
              <a:ext cx="1466221" cy="118731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13"/>
          <p:cNvGrpSpPr/>
          <p:nvPr/>
        </p:nvGrpSpPr>
        <p:grpSpPr>
          <a:xfrm>
            <a:off x="6737785" y="1450547"/>
            <a:ext cx="3390193" cy="1850556"/>
            <a:chOff x="119437" y="1486837"/>
            <a:chExt cx="3390193" cy="1850556"/>
          </a:xfrm>
        </p:grpSpPr>
        <p:sp>
          <p:nvSpPr>
            <p:cNvPr id="32" name="TextBox 31"/>
            <p:cNvSpPr txBox="1"/>
            <p:nvPr/>
          </p:nvSpPr>
          <p:spPr>
            <a:xfrm>
              <a:off x="119437" y="1486837"/>
              <a:ext cx="2824223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Paired sequence and quality lines should be equally long.</a:t>
              </a:r>
            </a:p>
          </p:txBody>
        </p:sp>
        <p:cxnSp>
          <p:nvCxnSpPr>
            <p:cNvPr id="33" name="Straight Arrow Connector 32"/>
            <p:cNvCxnSpPr>
              <a:stCxn id="32" idx="2"/>
            </p:cNvCxnSpPr>
            <p:nvPr/>
          </p:nvCxnSpPr>
          <p:spPr>
            <a:xfrm>
              <a:off x="1531549" y="2133168"/>
              <a:ext cx="1978081" cy="12042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0"/>
          <p:cNvGrpSpPr/>
          <p:nvPr/>
        </p:nvGrpSpPr>
        <p:grpSpPr>
          <a:xfrm>
            <a:off x="1846646" y="1330380"/>
            <a:ext cx="3893629" cy="1374264"/>
            <a:chOff x="7560271" y="-722531"/>
            <a:chExt cx="3844468" cy="1374264"/>
          </a:xfrm>
        </p:grpSpPr>
        <p:sp>
          <p:nvSpPr>
            <p:cNvPr id="18" name="TextBox 17"/>
            <p:cNvSpPr txBox="1"/>
            <p:nvPr/>
          </p:nvSpPr>
          <p:spPr>
            <a:xfrm>
              <a:off x="7560271" y="-722531"/>
              <a:ext cx="3514233" cy="92333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The ID may contain information such as the run and the position of the cluster on the sequencing slide.</a:t>
              </a:r>
            </a:p>
          </p:txBody>
        </p:sp>
        <p:cxnSp>
          <p:nvCxnSpPr>
            <p:cNvPr id="19" name="Straight Arrow Connector 18"/>
            <p:cNvCxnSpPr>
              <a:stCxn id="18" idx="3"/>
            </p:cNvCxnSpPr>
            <p:nvPr/>
          </p:nvCxnSpPr>
          <p:spPr>
            <a:xfrm>
              <a:off x="11074504" y="-260866"/>
              <a:ext cx="330235" cy="91259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10"/>
          <p:cNvGrpSpPr/>
          <p:nvPr/>
        </p:nvGrpSpPr>
        <p:grpSpPr>
          <a:xfrm>
            <a:off x="7651909" y="3947435"/>
            <a:ext cx="2476069" cy="2023871"/>
            <a:chOff x="8435106" y="-2152261"/>
            <a:chExt cx="2444806" cy="2023871"/>
          </a:xfrm>
        </p:grpSpPr>
        <p:sp>
          <p:nvSpPr>
            <p:cNvPr id="34" name="TextBox 33"/>
            <p:cNvSpPr txBox="1"/>
            <p:nvPr/>
          </p:nvSpPr>
          <p:spPr>
            <a:xfrm>
              <a:off x="8435106" y="-774721"/>
              <a:ext cx="2444806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Sometimes the sample barcode is also listed.</a:t>
              </a:r>
            </a:p>
          </p:txBody>
        </p:sp>
        <p:cxnSp>
          <p:nvCxnSpPr>
            <p:cNvPr id="35" name="Straight Arrow Connector 34"/>
            <p:cNvCxnSpPr>
              <a:stCxn id="34" idx="0"/>
            </p:cNvCxnSpPr>
            <p:nvPr/>
          </p:nvCxnSpPr>
          <p:spPr>
            <a:xfrm flipV="1">
              <a:off x="9657509" y="-2152261"/>
              <a:ext cx="1" cy="13775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928628F-91A9-858F-CB4D-14E56B92625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8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1600200" y="457200"/>
            <a:ext cx="8991600" cy="1219200"/>
          </a:xfrm>
        </p:spPr>
        <p:txBody>
          <a:bodyPr>
            <a:normAutofit/>
          </a:bodyPr>
          <a:lstStyle/>
          <a:p>
            <a:r>
              <a:rPr lang="en-US" sz="2800" dirty="0"/>
              <a:t>Sequences are stored in </a:t>
            </a:r>
            <a:r>
              <a:rPr lang="en-US" sz="2800" dirty="0" err="1"/>
              <a:t>Fasta</a:t>
            </a:r>
            <a:r>
              <a:rPr lang="en-US" sz="2800" dirty="0"/>
              <a:t> files</a:t>
            </a:r>
          </a:p>
          <a:p>
            <a:r>
              <a:rPr lang="en-US" sz="2800" dirty="0" err="1"/>
              <a:t>Fasta</a:t>
            </a:r>
            <a:r>
              <a:rPr lang="en-US" sz="2800" dirty="0"/>
              <a:t> files are </a:t>
            </a:r>
            <a:r>
              <a:rPr lang="en-US" sz="2800" u="sng" dirty="0"/>
              <a:t>plain text files</a:t>
            </a:r>
            <a:r>
              <a:rPr lang="en-US" sz="2800" dirty="0"/>
              <a:t> (open e.g. in                 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5334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Fasta</a:t>
            </a:r>
            <a:r>
              <a:rPr lang="en-US" dirty="0">
                <a:solidFill>
                  <a:schemeClr val="accent1"/>
                </a:solidFill>
              </a:rPr>
              <a:t>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5000" y="3429003"/>
            <a:ext cx="8305800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&gt;</a:t>
            </a:r>
            <a:r>
              <a:rPr lang="en-US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dna_sequence_A</a:t>
            </a:r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length=36 source=</a:t>
            </a:r>
            <a:r>
              <a:rPr lang="en-US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human_gut</a:t>
            </a:r>
            <a:endParaRPr lang="en-US" dirty="0">
              <a:solidFill>
                <a:prstClr val="black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CCGATCATATGACTAGCATGTCGACTAGCATTTAGA</a:t>
            </a:r>
          </a:p>
          <a:p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&gt;</a:t>
            </a:r>
            <a:r>
              <a:rPr lang="en-US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dna_sequence_B</a:t>
            </a:r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length=43 source=</a:t>
            </a:r>
            <a:r>
              <a:rPr lang="en-US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human_gut</a:t>
            </a:r>
            <a:endParaRPr lang="en-US" dirty="0">
              <a:solidFill>
                <a:prstClr val="black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GACTAGCATGCAATCGCGATAGCTATCGACTAGCATTTAGCGA</a:t>
            </a:r>
          </a:p>
          <a:p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&gt;</a:t>
            </a:r>
            <a:r>
              <a:rPr lang="en-US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dna_sequence_C</a:t>
            </a:r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length=86 source=</a:t>
            </a:r>
            <a:r>
              <a:rPr lang="en-US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human_gut</a:t>
            </a:r>
            <a:endParaRPr lang="en-US" dirty="0">
              <a:solidFill>
                <a:prstClr val="black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GCGGCGGCTAACGCATCGATCTTTGTACGATGATTGGCGGCGGC TATTATGCATTGGGAATGCATCGATCGACATCGATCGAAGCTAT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1716675" y="1461936"/>
            <a:ext cx="3676798" cy="2043264"/>
            <a:chOff x="4498197" y="-445532"/>
            <a:chExt cx="3676798" cy="2043264"/>
          </a:xfrm>
        </p:grpSpPr>
        <p:sp>
          <p:nvSpPr>
            <p:cNvPr id="9" name="TextBox 8"/>
            <p:cNvSpPr txBox="1"/>
            <p:nvPr/>
          </p:nvSpPr>
          <p:spPr>
            <a:xfrm>
              <a:off x="4498197" y="-445532"/>
              <a:ext cx="3676798" cy="64633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Every </a:t>
              </a:r>
              <a:r>
                <a:rPr lang="en-US">
                  <a:solidFill>
                    <a:prstClr val="black"/>
                  </a:solidFill>
                </a:rPr>
                <a:t>new entry </a:t>
              </a:r>
              <a:r>
                <a:rPr lang="en-US" dirty="0">
                  <a:solidFill>
                    <a:prstClr val="black"/>
                  </a:solidFill>
                </a:rPr>
                <a:t>starts with </a:t>
              </a:r>
              <a:r>
                <a:rPr lang="en-US">
                  <a:solidFill>
                    <a:prstClr val="black"/>
                  </a:solidFill>
                </a:rPr>
                <a:t>a “&gt;” sign </a:t>
              </a:r>
              <a:r>
                <a:rPr lang="en-US" dirty="0">
                  <a:solidFill>
                    <a:prstClr val="black"/>
                  </a:solidFill>
                </a:rPr>
                <a:t>at the start of a line followed by an ID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4697675" y="200799"/>
              <a:ext cx="149283" cy="139693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0"/>
          <p:cNvGrpSpPr/>
          <p:nvPr/>
        </p:nvGrpSpPr>
        <p:grpSpPr>
          <a:xfrm>
            <a:off x="3395744" y="2286000"/>
            <a:ext cx="3538459" cy="1219200"/>
            <a:chOff x="7420070" y="-445532"/>
            <a:chExt cx="3867320" cy="1219200"/>
          </a:xfrm>
        </p:grpSpPr>
        <p:sp>
          <p:nvSpPr>
            <p:cNvPr id="12" name="TextBox 11"/>
            <p:cNvSpPr txBox="1"/>
            <p:nvPr/>
          </p:nvSpPr>
          <p:spPr>
            <a:xfrm>
              <a:off x="7706265" y="-445532"/>
              <a:ext cx="3581125" cy="92333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Each ID is unique in the file. The ID is the part until a space, so no spaces allowed in the ID itself</a:t>
              </a: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>
              <a:off x="7420070" y="16133"/>
              <a:ext cx="286195" cy="7575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3"/>
          <p:cNvGrpSpPr/>
          <p:nvPr/>
        </p:nvGrpSpPr>
        <p:grpSpPr>
          <a:xfrm>
            <a:off x="6236377" y="5369442"/>
            <a:ext cx="4191000" cy="1293486"/>
            <a:chOff x="164327" y="842575"/>
            <a:chExt cx="4191000" cy="1293486"/>
          </a:xfrm>
        </p:grpSpPr>
        <p:sp>
          <p:nvSpPr>
            <p:cNvPr id="15" name="TextBox 14"/>
            <p:cNvSpPr txBox="1"/>
            <p:nvPr/>
          </p:nvSpPr>
          <p:spPr>
            <a:xfrm>
              <a:off x="164327" y="1212731"/>
              <a:ext cx="4191000" cy="92333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While the description has to be on a single line, the sequence can be on one or more lines until the next “&gt;” at the start of a line</a:t>
              </a:r>
            </a:p>
          </p:txBody>
        </p:sp>
        <p:cxnSp>
          <p:nvCxnSpPr>
            <p:cNvPr id="16" name="Straight Arrow Connector 15"/>
            <p:cNvCxnSpPr>
              <a:cxnSpLocks/>
              <a:stCxn id="15" idx="0"/>
            </p:cNvCxnSpPr>
            <p:nvPr/>
          </p:nvCxnSpPr>
          <p:spPr>
            <a:xfrm flipH="1" flipV="1">
              <a:off x="1928950" y="842575"/>
              <a:ext cx="330877" cy="37015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ttp://upload.wikimedia.org/wikipedia/commons/0/0f/Notepad%2B%2B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54796" y="875238"/>
            <a:ext cx="1228060" cy="886289"/>
          </a:xfrm>
          <a:prstGeom prst="rect">
            <a:avLst/>
          </a:prstGeom>
          <a:noFill/>
        </p:spPr>
      </p:pic>
      <p:grpSp>
        <p:nvGrpSpPr>
          <p:cNvPr id="31" name="Group 13"/>
          <p:cNvGrpSpPr/>
          <p:nvPr/>
        </p:nvGrpSpPr>
        <p:grpSpPr>
          <a:xfrm>
            <a:off x="7531777" y="2133600"/>
            <a:ext cx="2895600" cy="1469136"/>
            <a:chOff x="810542" y="1062051"/>
            <a:chExt cx="2895600" cy="1469136"/>
          </a:xfrm>
        </p:grpSpPr>
        <p:sp>
          <p:nvSpPr>
            <p:cNvPr id="32" name="TextBox 31"/>
            <p:cNvSpPr txBox="1"/>
            <p:nvPr/>
          </p:nvSpPr>
          <p:spPr>
            <a:xfrm>
              <a:off x="810542" y="1062051"/>
              <a:ext cx="2895600" cy="92333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There can be extra attributes or comments on the same line, but after the first space</a:t>
              </a:r>
            </a:p>
          </p:txBody>
        </p:sp>
        <p:cxnSp>
          <p:nvCxnSpPr>
            <p:cNvPr id="33" name="Straight Arrow Connector 32"/>
            <p:cNvCxnSpPr>
              <a:stCxn id="32" idx="2"/>
            </p:cNvCxnSpPr>
            <p:nvPr/>
          </p:nvCxnSpPr>
          <p:spPr>
            <a:xfrm flipH="1">
              <a:off x="1075549" y="1985381"/>
              <a:ext cx="1182793" cy="5458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91BA4-B939-7898-C63D-3A46A05F016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3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https://flxlexblog.files.wordpress.com/2015/06/june_2015_with_minion1.jp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3" y="0"/>
            <a:ext cx="9144001" cy="6858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8601919" y="785512"/>
            <a:ext cx="70404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2015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513636" y="46298"/>
            <a:ext cx="7724973" cy="5984112"/>
            <a:chOff x="989635" y="46298"/>
            <a:chExt cx="7724973" cy="5984112"/>
          </a:xfrm>
        </p:grpSpPr>
        <p:sp>
          <p:nvSpPr>
            <p:cNvPr id="6" name="Oval 5"/>
            <p:cNvSpPr/>
            <p:nvPr/>
          </p:nvSpPr>
          <p:spPr>
            <a:xfrm>
              <a:off x="4953965" y="4919240"/>
              <a:ext cx="1238491" cy="1111170"/>
            </a:xfrm>
            <a:prstGeom prst="ellipse">
              <a:avLst/>
            </a:prstGeom>
            <a:noFill/>
            <a:ln w="571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1285800" y="46298"/>
              <a:ext cx="4506322" cy="4734046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960962" y="1306763"/>
              <a:ext cx="2025570" cy="271504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973747" y="3964412"/>
              <a:ext cx="1740861" cy="369332"/>
            </a:xfrm>
            <a:prstGeom prst="rect">
              <a:avLst/>
            </a:prstGeom>
            <a:solidFill>
              <a:srgbClr val="FF7E79"/>
            </a:solidFill>
            <a:ln w="38100">
              <a:solidFill>
                <a:srgbClr val="FF000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Third generation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9635" y="4272644"/>
              <a:ext cx="1937582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Second generation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48078" y="5084512"/>
              <a:ext cx="1654043" cy="3693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25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generation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AA56468-71B5-B460-340E-5E5DFE967E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0804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EFBD-0092-2641-B27A-279A350B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3576"/>
            <a:ext cx="12192000" cy="884348"/>
          </a:xfrm>
        </p:spPr>
        <p:txBody>
          <a:bodyPr>
            <a:normAutofit/>
          </a:bodyPr>
          <a:lstStyle/>
          <a:p>
            <a:r>
              <a:rPr lang="nl-NL" sz="4000" dirty="0" err="1">
                <a:solidFill>
                  <a:schemeClr val="accent1"/>
                </a:solidFill>
              </a:rPr>
              <a:t>Third</a:t>
            </a:r>
            <a:r>
              <a:rPr lang="nl-NL" sz="4000" dirty="0">
                <a:solidFill>
                  <a:schemeClr val="accent1"/>
                </a:solidFill>
              </a:rPr>
              <a:t> </a:t>
            </a:r>
            <a:r>
              <a:rPr lang="nl-NL" sz="4000" dirty="0" err="1">
                <a:solidFill>
                  <a:schemeClr val="accent1"/>
                </a:solidFill>
              </a:rPr>
              <a:t>generation</a:t>
            </a:r>
            <a:r>
              <a:rPr lang="nl-NL" sz="4000" dirty="0">
                <a:solidFill>
                  <a:schemeClr val="accent1"/>
                </a:solidFill>
              </a:rPr>
              <a:t> (</a:t>
            </a:r>
            <a:r>
              <a:rPr lang="nl-NL" sz="4000" dirty="0" err="1">
                <a:solidFill>
                  <a:schemeClr val="accent1"/>
                </a:solidFill>
              </a:rPr>
              <a:t>Long-read</a:t>
            </a:r>
            <a:r>
              <a:rPr lang="nl-NL" sz="4000" dirty="0">
                <a:solidFill>
                  <a:schemeClr val="accent1"/>
                </a:solidFill>
              </a:rPr>
              <a:t>) </a:t>
            </a:r>
            <a:r>
              <a:rPr lang="nl-NL" sz="4000" dirty="0" err="1">
                <a:solidFill>
                  <a:schemeClr val="accent1"/>
                </a:solidFill>
              </a:rPr>
              <a:t>sequencing</a:t>
            </a:r>
            <a:r>
              <a:rPr lang="nl-NL" sz="4000" dirty="0">
                <a:solidFill>
                  <a:schemeClr val="accent1"/>
                </a:solidFill>
              </a:rPr>
              <a:t> </a:t>
            </a:r>
            <a:r>
              <a:rPr lang="nl-NL" sz="4000" dirty="0" err="1">
                <a:solidFill>
                  <a:schemeClr val="accent1"/>
                </a:solidFill>
              </a:rPr>
              <a:t>methods</a:t>
            </a:r>
            <a:endParaRPr lang="nl-NL" sz="4000" dirty="0">
              <a:solidFill>
                <a:schemeClr val="accent1"/>
              </a:solidFill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7F0414C-8A99-DD49-83D6-32261AD4F140}"/>
              </a:ext>
            </a:extLst>
          </p:cNvPr>
          <p:cNvSpPr txBox="1"/>
          <p:nvPr/>
        </p:nvSpPr>
        <p:spPr>
          <a:xfrm>
            <a:off x="1913902" y="1668284"/>
            <a:ext cx="2623282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600" dirty="0">
                <a:latin typeface="+mj-lt"/>
              </a:rPr>
              <a:t>Pacific Biosystems</a:t>
            </a:r>
          </a:p>
          <a:p>
            <a:r>
              <a:rPr lang="nl-NL" sz="2000" dirty="0">
                <a:latin typeface="+mj-lt"/>
              </a:rPr>
              <a:t>(PacBio)</a:t>
            </a:r>
          </a:p>
          <a:p>
            <a:endParaRPr lang="nl-NL" sz="2600" dirty="0">
              <a:latin typeface="+mj-lt"/>
            </a:endParaRPr>
          </a:p>
          <a:p>
            <a:endParaRPr lang="nl-NL" sz="2600" dirty="0">
              <a:latin typeface="+mj-lt"/>
            </a:endParaRPr>
          </a:p>
          <a:p>
            <a:endParaRPr lang="nl-NL" sz="2600" dirty="0">
              <a:latin typeface="+mj-lt"/>
            </a:endParaRPr>
          </a:p>
          <a:p>
            <a:endParaRPr lang="nl-NL" sz="2600" dirty="0">
              <a:latin typeface="+mj-lt"/>
            </a:endParaRPr>
          </a:p>
          <a:p>
            <a:r>
              <a:rPr lang="nl-NL" sz="2600" dirty="0">
                <a:latin typeface="+mj-lt"/>
              </a:rPr>
              <a:t>Oxford Nanopore </a:t>
            </a:r>
          </a:p>
          <a:p>
            <a:r>
              <a:rPr lang="nl-NL" sz="2600" dirty="0">
                <a:latin typeface="+mj-lt"/>
              </a:rPr>
              <a:t>Technologies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9B2A8A0-6835-0543-864F-8C79ABA91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5114" y="1124744"/>
            <a:ext cx="1662782" cy="1245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837C3E-2FE7-A646-968A-1A174BC8F0F4}"/>
              </a:ext>
            </a:extLst>
          </p:cNvPr>
          <p:cNvSpPr txBox="1"/>
          <p:nvPr/>
        </p:nvSpPr>
        <p:spPr>
          <a:xfrm>
            <a:off x="7392144" y="1604758"/>
            <a:ext cx="31722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latin typeface="+mj-lt"/>
              </a:rPr>
              <a:t>Long reads (20 </a:t>
            </a:r>
            <a:r>
              <a:rPr lang="nl-NL" sz="2000" dirty="0" err="1">
                <a:latin typeface="+mj-lt"/>
              </a:rPr>
              <a:t>kb</a:t>
            </a:r>
            <a:r>
              <a:rPr lang="nl-NL" sz="2000" dirty="0">
                <a:latin typeface="+mj-lt"/>
              </a:rPr>
              <a:t>)</a:t>
            </a:r>
          </a:p>
          <a:p>
            <a:r>
              <a:rPr lang="nl-NL" sz="2000" dirty="0">
                <a:latin typeface="+mj-lt"/>
              </a:rPr>
              <a:t>Perfect for genome assembly</a:t>
            </a:r>
          </a:p>
          <a:p>
            <a:r>
              <a:rPr lang="nl-NL" sz="2000" dirty="0">
                <a:latin typeface="+mj-lt"/>
              </a:rPr>
              <a:t>Moderate to high error rate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2AEBE-B5F8-164E-9A02-A6C1C18E7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0671" y="3184542"/>
            <a:ext cx="2192393" cy="1644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C063822-0D69-6E4D-9D69-883F6F8B4739}"/>
              </a:ext>
            </a:extLst>
          </p:cNvPr>
          <p:cNvSpPr/>
          <p:nvPr/>
        </p:nvSpPr>
        <p:spPr>
          <a:xfrm rot="20573048">
            <a:off x="4668289" y="4503070"/>
            <a:ext cx="909748" cy="3847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3BFCAB1-08D9-EE47-875D-FAE823229F71}"/>
              </a:ext>
            </a:extLst>
          </p:cNvPr>
          <p:cNvSpPr txBox="1"/>
          <p:nvPr/>
        </p:nvSpPr>
        <p:spPr>
          <a:xfrm>
            <a:off x="7392144" y="3242588"/>
            <a:ext cx="31722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latin typeface="+mj-lt"/>
              </a:rPr>
              <a:t>Tiny (minION)</a:t>
            </a:r>
          </a:p>
          <a:p>
            <a:r>
              <a:rPr lang="nl-NL" sz="2000" dirty="0">
                <a:latin typeface="+mj-lt"/>
              </a:rPr>
              <a:t>Long reads (&gt;50 </a:t>
            </a:r>
            <a:r>
              <a:rPr lang="nl-NL" sz="2000" dirty="0" err="1">
                <a:latin typeface="+mj-lt"/>
              </a:rPr>
              <a:t>kb</a:t>
            </a:r>
            <a:r>
              <a:rPr lang="nl-NL" sz="2000" dirty="0">
                <a:latin typeface="+mj-lt"/>
              </a:rPr>
              <a:t>)</a:t>
            </a:r>
          </a:p>
          <a:p>
            <a:r>
              <a:rPr lang="nl-NL" sz="2000" dirty="0">
                <a:latin typeface="+mj-lt"/>
              </a:rPr>
              <a:t>Perfect </a:t>
            </a:r>
            <a:r>
              <a:rPr lang="nl-NL" sz="2000" dirty="0" err="1">
                <a:latin typeface="+mj-lt"/>
              </a:rPr>
              <a:t>for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genome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assembly</a:t>
            </a:r>
            <a:endParaRPr lang="nl-NL" sz="2000" dirty="0">
              <a:latin typeface="+mj-lt"/>
            </a:endParaRPr>
          </a:p>
          <a:p>
            <a:r>
              <a:rPr lang="nl-NL" sz="2000" dirty="0">
                <a:latin typeface="+mj-lt"/>
              </a:rPr>
              <a:t>High error rate</a:t>
            </a:r>
          </a:p>
        </p:txBody>
      </p:sp>
      <p:pic>
        <p:nvPicPr>
          <p:cNvPr id="11" name="Picture 4" descr="Afbeeldingsresultaat voor minION">
            <a:extLst>
              <a:ext uri="{FF2B5EF4-FFF2-40B4-BE49-F238E27FC236}">
                <a16:creationId xmlns:a16="http://schemas.microsoft.com/office/drawing/2014/main" id="{3AF4FD46-ACE6-F14B-A9BA-B7346FD535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896" t="12201" r="18738" b="14441"/>
          <a:stretch/>
        </p:blipFill>
        <p:spPr bwMode="auto">
          <a:xfrm>
            <a:off x="10651326" y="3469048"/>
            <a:ext cx="1031672" cy="87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CEE2-6DD9-ED48-BA42-FDE2C7464919}"/>
              </a:ext>
            </a:extLst>
          </p:cNvPr>
          <p:cNvGrpSpPr/>
          <p:nvPr/>
        </p:nvGrpSpPr>
        <p:grpSpPr>
          <a:xfrm>
            <a:off x="7053702" y="4941169"/>
            <a:ext cx="2786715" cy="956603"/>
            <a:chOff x="5385685" y="5352717"/>
            <a:chExt cx="2786715" cy="956603"/>
          </a:xfrm>
        </p:grpSpPr>
        <p:pic>
          <p:nvPicPr>
            <p:cNvPr id="16" name="Content Placeholder 5">
              <a:extLst>
                <a:ext uri="{FF2B5EF4-FFF2-40B4-BE49-F238E27FC236}">
                  <a16:creationId xmlns:a16="http://schemas.microsoft.com/office/drawing/2014/main" id="{314AD70E-C8AD-C146-BA4A-5D7C32AEDE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63307" y="5405757"/>
              <a:ext cx="845996" cy="627436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2D79FAE-E62A-D746-8178-03F9C43586D5}"/>
                </a:ext>
              </a:extLst>
            </p:cNvPr>
            <p:cNvGrpSpPr/>
            <p:nvPr/>
          </p:nvGrpSpPr>
          <p:grpSpPr>
            <a:xfrm>
              <a:off x="5385685" y="5352717"/>
              <a:ext cx="968572" cy="956603"/>
              <a:chOff x="2949725" y="4659419"/>
              <a:chExt cx="968572" cy="956603"/>
            </a:xfrm>
          </p:grpSpPr>
          <p:pic>
            <p:nvPicPr>
              <p:cNvPr id="18" name="Picture 7" descr="C:\Users\duim0101\Dropbox\Screenshots\Screenshot 2018-01-18 11.19.05.png">
                <a:extLst>
                  <a:ext uri="{FF2B5EF4-FFF2-40B4-BE49-F238E27FC236}">
                    <a16:creationId xmlns:a16="http://schemas.microsoft.com/office/drawing/2014/main" id="{B0DBCE1B-2C33-1B4F-915A-735DFB29D0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49725" y="4659419"/>
                <a:ext cx="968572" cy="8843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9A7215-1FD6-1E48-A8BB-F1133FA831BF}"/>
                  </a:ext>
                </a:extLst>
              </p:cNvPr>
              <p:cNvSpPr txBox="1"/>
              <p:nvPr/>
            </p:nvSpPr>
            <p:spPr>
              <a:xfrm>
                <a:off x="2949725" y="5369801"/>
                <a:ext cx="60625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000" dirty="0" err="1"/>
                  <a:t>GridION</a:t>
                </a:r>
                <a:endParaRPr lang="nl-NL" sz="1000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8EAA56-1240-4842-8A78-A4EC00C480CB}"/>
                </a:ext>
              </a:extLst>
            </p:cNvPr>
            <p:cNvSpPr txBox="1"/>
            <p:nvPr/>
          </p:nvSpPr>
          <p:spPr>
            <a:xfrm>
              <a:off x="6396001" y="6021288"/>
              <a:ext cx="8402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000" dirty="0" err="1"/>
                <a:t>PromethION</a:t>
              </a:r>
              <a:endParaRPr lang="nl-NL" sz="10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CA37F5D-1FE3-A245-80C8-8A82981B7AC8}"/>
                </a:ext>
              </a:extLst>
            </p:cNvPr>
            <p:cNvGrpSpPr/>
            <p:nvPr/>
          </p:nvGrpSpPr>
          <p:grpSpPr>
            <a:xfrm>
              <a:off x="7290361" y="5473294"/>
              <a:ext cx="882039" cy="816003"/>
              <a:chOff x="7091435" y="4659418"/>
              <a:chExt cx="882039" cy="816003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1B6673C-0D4F-174A-B092-D57252EE8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091435" y="4659418"/>
                <a:ext cx="882039" cy="569782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136744-15E0-8546-9D9E-DCF7B71B06EF}"/>
                  </a:ext>
                </a:extLst>
              </p:cNvPr>
              <p:cNvSpPr txBox="1"/>
              <p:nvPr/>
            </p:nvSpPr>
            <p:spPr>
              <a:xfrm>
                <a:off x="7180434" y="5229200"/>
                <a:ext cx="70403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000" dirty="0" err="1"/>
                  <a:t>SmidgION</a:t>
                </a:r>
                <a:endParaRPr lang="nl-NL" sz="1000" dirty="0"/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335E8D74-0743-3C45-80C7-A5974E2B746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  <p:pic>
        <p:nvPicPr>
          <p:cNvPr id="12" name="Picture 11" descr="A picture containing indoor, monitor, sitting, white&#10;&#10;Description automatically generated">
            <a:extLst>
              <a:ext uri="{FF2B5EF4-FFF2-40B4-BE49-F238E27FC236}">
                <a16:creationId xmlns:a16="http://schemas.microsoft.com/office/drawing/2014/main" id="{FA3ACEF7-A53E-7B41-B9B5-136F16C964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6169" y="1360597"/>
            <a:ext cx="735980" cy="102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9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15"/>
          <p:cNvSpPr txBox="1">
            <a:spLocks noChangeArrowheads="1"/>
          </p:cNvSpPr>
          <p:nvPr/>
        </p:nvSpPr>
        <p:spPr bwMode="auto">
          <a:xfrm>
            <a:off x="8401938" y="6519446"/>
            <a:ext cx="2266063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rgbClr val="EEECE1">
                    <a:lumMod val="50000"/>
                  </a:srgbClr>
                </a:solidFill>
              </a:rPr>
              <a:t>Jain </a:t>
            </a:r>
            <a:r>
              <a:rPr lang="en-US" sz="1600" i="1" dirty="0">
                <a:solidFill>
                  <a:srgbClr val="EEECE1">
                    <a:lumMod val="50000"/>
                  </a:srgbClr>
                </a:solidFill>
              </a:rPr>
              <a:t>et al.</a:t>
            </a:r>
            <a:r>
              <a:rPr lang="en-US" sz="1600" dirty="0">
                <a:solidFill>
                  <a:srgbClr val="EEECE1">
                    <a:lumMod val="50000"/>
                  </a:srgbClr>
                </a:solidFill>
              </a:rPr>
              <a:t> Nat Meth 2015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0867" y="0"/>
            <a:ext cx="5067134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1"/>
            <a:ext cx="4271058" cy="1754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079" y="1447872"/>
            <a:ext cx="4061145" cy="61345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Oxford Nanopore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83" y="2121354"/>
            <a:ext cx="3978482" cy="4721739"/>
          </a:xfrm>
        </p:spPr>
        <p:txBody>
          <a:bodyPr>
            <a:normAutofit fontScale="70000" lnSpcReduction="20000"/>
          </a:bodyPr>
          <a:lstStyle/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Open channel</a:t>
            </a:r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DNA with molecular motor captured by </a:t>
            </a:r>
            <a:r>
              <a:rPr lang="en-US" dirty="0" err="1"/>
              <a:t>nanopore</a:t>
            </a:r>
            <a:endParaRPr lang="en-US" dirty="0"/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Translocation of 5’ adaptor</a:t>
            </a:r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Translocation of template strand</a:t>
            </a:r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Translocation of hairpin</a:t>
            </a:r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Translocation of complement strand</a:t>
            </a:r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Translocation of 3’ adaptor</a:t>
            </a:r>
          </a:p>
          <a:p>
            <a:pPr marL="571500" indent="-571500">
              <a:lnSpc>
                <a:spcPct val="130000"/>
              </a:lnSpc>
              <a:buFont typeface="+mj-lt"/>
              <a:buAutoNum type="romanLcPeriod"/>
            </a:pPr>
            <a:r>
              <a:rPr lang="en-US" dirty="0"/>
              <a:t>Open channel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887656" y="-137839"/>
            <a:ext cx="4626000" cy="1107997"/>
            <a:chOff x="4363656" y="-137839"/>
            <a:chExt cx="4626000" cy="1107997"/>
          </a:xfrm>
        </p:grpSpPr>
        <p:sp>
          <p:nvSpPr>
            <p:cNvPr id="6" name="TextBox 5"/>
            <p:cNvSpPr txBox="1"/>
            <p:nvPr/>
          </p:nvSpPr>
          <p:spPr>
            <a:xfrm>
              <a:off x="5265620" y="-13783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66341" y="27832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68850" y="9365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73021" y="3251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60426" y="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64597" y="23149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63656" y="23149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67827" y="46298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82441" y="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683162" y="41616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985671" y="23149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89842" y="46298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77247" y="13783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581418" y="3693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80477" y="3693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384648" y="60082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12661" y="-13783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13382" y="27832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15891" y="9365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20062" y="32514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07467" y="-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11638" y="23149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10697" y="23149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14868" y="46298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63886" y="2341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61679" y="2235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44569" y="6653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580704" y="20702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>
                  <a:ln w="9525" cmpd="sng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−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841787" y="1447872"/>
            <a:ext cx="4703581" cy="1057720"/>
            <a:chOff x="4317786" y="1447872"/>
            <a:chExt cx="4703581" cy="1057720"/>
          </a:xfrm>
        </p:grpSpPr>
        <p:sp>
          <p:nvSpPr>
            <p:cNvPr id="35" name="TextBox 34"/>
            <p:cNvSpPr txBox="1"/>
            <p:nvPr/>
          </p:nvSpPr>
          <p:spPr>
            <a:xfrm>
              <a:off x="4317786" y="156993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17868" y="187666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97297" y="144787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897379" y="175460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021" y="198187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52450" y="155308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452532" y="185980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43191" y="168568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043273" y="199241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98426" y="209762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97613" y="177799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877937" y="197555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443596" y="206133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714873" y="188819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135712" y="209337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14070" y="213626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9525" cmpd="sng">
                    <a:solidFill>
                      <a:schemeClr val="accent6">
                        <a:lumMod val="75000"/>
                      </a:schemeClr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101600">
                      <a:schemeClr val="accent6">
                        <a:satMod val="175000"/>
                        <a:alpha val="40000"/>
                      </a:schemeClr>
                    </a:glow>
                  </a:effectLst>
                </a:rPr>
                <a:t>+</a:t>
              </a:r>
            </a:p>
          </p:txBody>
        </p:sp>
      </p:grpSp>
      <p:pic>
        <p:nvPicPr>
          <p:cNvPr id="53" name="Picture 4" descr="Afbeeldingsresultaat voor minION">
            <a:extLst>
              <a:ext uri="{FF2B5EF4-FFF2-40B4-BE49-F238E27FC236}">
                <a16:creationId xmlns:a16="http://schemas.microsoft.com/office/drawing/2014/main" id="{A79A1CE1-6F1F-E204-3631-560BCCD4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896" t="12201" r="18738" b="14441"/>
          <a:stretch/>
        </p:blipFill>
        <p:spPr bwMode="auto">
          <a:xfrm>
            <a:off x="149049" y="322504"/>
            <a:ext cx="1031672" cy="87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CEFCBB7-9EBF-1BC2-D65D-8AFF6A729AB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93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54401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Nanopore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5025" y="3773345"/>
            <a:ext cx="8958803" cy="3084656"/>
          </a:xfrm>
        </p:spPr>
        <p:txBody>
          <a:bodyPr>
            <a:normAutofit/>
          </a:bodyPr>
          <a:lstStyle/>
          <a:p>
            <a:r>
              <a:rPr lang="en-US" sz="2800" dirty="0"/>
              <a:t>By themselves, </a:t>
            </a:r>
            <a:r>
              <a:rPr lang="en-US" sz="2800" dirty="0" err="1"/>
              <a:t>Nanopore</a:t>
            </a:r>
            <a:r>
              <a:rPr lang="en-US" sz="2800" dirty="0"/>
              <a:t> sequences have relatively low accuracy (1D)</a:t>
            </a:r>
          </a:p>
          <a:p>
            <a:r>
              <a:rPr lang="en-US" sz="2800" dirty="0"/>
              <a:t>By measuring double stranded DNA, the same sequence can be measured twice (2D)</a:t>
            </a:r>
          </a:p>
          <a:p>
            <a:r>
              <a:rPr lang="en-US" sz="2800" dirty="0"/>
              <a:t>This decreases the error rate / increases accuracy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4310" y="788135"/>
            <a:ext cx="4236334" cy="2615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70075" y="3404013"/>
            <a:ext cx="2324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identity to reference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7413" y="1187264"/>
            <a:ext cx="3784921" cy="1781928"/>
          </a:xfrm>
          <a:prstGeom prst="rect">
            <a:avLst/>
          </a:prstGeom>
        </p:spPr>
      </p:pic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8295190" y="6519446"/>
            <a:ext cx="2372811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Seemann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SlideShare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 2015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3F58B-28BE-DEFD-FA73-5DEF8461762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76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035707" y="733484"/>
            <a:ext cx="960699" cy="2275936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47884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Homopolymer</a:t>
            </a:r>
            <a:r>
              <a:rPr lang="en-US" dirty="0">
                <a:solidFill>
                  <a:schemeClr val="accent1"/>
                </a:solidFill>
              </a:rPr>
              <a:t> errors</a:t>
            </a:r>
            <a:endParaRPr lang="nl-NL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5024" y="3183039"/>
            <a:ext cx="8986777" cy="3674961"/>
          </a:xfrm>
        </p:spPr>
        <p:txBody>
          <a:bodyPr>
            <a:normAutofit/>
          </a:bodyPr>
          <a:lstStyle/>
          <a:p>
            <a:r>
              <a:rPr lang="nl-NL" sz="2800" dirty="0" err="1"/>
              <a:t>Homopolymer</a:t>
            </a:r>
            <a:r>
              <a:rPr lang="nl-NL" sz="2800" dirty="0"/>
              <a:t>: stretch of </a:t>
            </a:r>
            <a:r>
              <a:rPr lang="nl-NL" sz="2800" dirty="0" err="1"/>
              <a:t>identical</a:t>
            </a:r>
            <a:r>
              <a:rPr lang="nl-NL" sz="2800" dirty="0"/>
              <a:t> </a:t>
            </a:r>
            <a:r>
              <a:rPr lang="nl-NL" sz="2800" dirty="0" err="1"/>
              <a:t>nucleotides</a:t>
            </a:r>
            <a:endParaRPr lang="nl-NL" sz="2800" dirty="0"/>
          </a:p>
          <a:p>
            <a:r>
              <a:rPr lang="nl-NL" sz="2800" dirty="0" err="1"/>
              <a:t>Homopolymer</a:t>
            </a:r>
            <a:r>
              <a:rPr lang="nl-NL" sz="2800" dirty="0"/>
              <a:t> error: </a:t>
            </a:r>
            <a:r>
              <a:rPr lang="nl-NL" sz="2800" dirty="0" err="1"/>
              <a:t>length</a:t>
            </a:r>
            <a:r>
              <a:rPr lang="nl-NL" sz="2800" dirty="0"/>
              <a:t> is </a:t>
            </a:r>
            <a:r>
              <a:rPr lang="nl-NL" sz="2800" dirty="0" err="1"/>
              <a:t>misidentified</a:t>
            </a:r>
            <a:endParaRPr lang="nl-NL" sz="2800" dirty="0"/>
          </a:p>
          <a:p>
            <a:pPr lvl="1"/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longer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3-5 </a:t>
            </a:r>
            <a:r>
              <a:rPr lang="nl-NL" dirty="0" err="1"/>
              <a:t>nucleotides</a:t>
            </a:r>
            <a:endParaRPr lang="nl-NL" dirty="0"/>
          </a:p>
          <a:p>
            <a:pPr lvl="1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long-read</a:t>
            </a:r>
            <a:r>
              <a:rPr lang="nl-NL" dirty="0"/>
              <a:t> </a:t>
            </a:r>
            <a:r>
              <a:rPr lang="nl-NL" dirty="0" err="1"/>
              <a:t>sequencing</a:t>
            </a:r>
            <a:endParaRPr lang="nl-NL" dirty="0"/>
          </a:p>
          <a:p>
            <a:pPr lvl="3"/>
            <a:endParaRPr lang="nl-NL" sz="2800" dirty="0"/>
          </a:p>
          <a:p>
            <a:r>
              <a:rPr lang="en-US" sz="2800" dirty="0"/>
              <a:t>Longer homopolymer tracks: more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1404" y="733484"/>
            <a:ext cx="93986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CCGTGTCAGCGGCATCGCC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GTGTCAGCGGCATCGCC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GCG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TGTCAGCGGCATCGCC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-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AGT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TGGGCAACCGG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TGTCAGCGGCATCGCC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-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GCG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TGGGCAACCGGTGG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   AGCGGCATCGCC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AGT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TGGGCAACCGGTGG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    GCGGCATCGCC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AGT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TGGGCAACCGGTGGCA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        CATCGCC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-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AGT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TGGGCAACCGGTGGCATTG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            GCC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GGGGG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-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CAGGACATGAAGGCG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GCG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TGGGCAACCGGTGGCATTG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CCTG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75403-7235-A241-5566-108E08D7AA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16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524000" y="1574157"/>
            <a:ext cx="9144000" cy="5385065"/>
            <a:chOff x="0" y="1088020"/>
            <a:chExt cx="9144000" cy="587120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88020"/>
              <a:ext cx="9144000" cy="5871202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3460830" y="1088020"/>
              <a:ext cx="5416952" cy="275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35928" y="4920286"/>
              <a:ext cx="2013996" cy="706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87878" y="5845215"/>
              <a:ext cx="1851949" cy="439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54401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Consensus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5025" y="544011"/>
            <a:ext cx="8958803" cy="1133584"/>
          </a:xfrm>
        </p:spPr>
        <p:txBody>
          <a:bodyPr>
            <a:normAutofit/>
          </a:bodyPr>
          <a:lstStyle/>
          <a:p>
            <a:r>
              <a:rPr lang="en-US" dirty="0"/>
              <a:t>Long reads (</a:t>
            </a:r>
            <a:r>
              <a:rPr lang="en-US" dirty="0" err="1"/>
              <a:t>Nanopore</a:t>
            </a:r>
            <a:r>
              <a:rPr lang="en-US" dirty="0"/>
              <a:t>, </a:t>
            </a:r>
            <a:r>
              <a:rPr lang="en-US" dirty="0" err="1"/>
              <a:t>Pacbio</a:t>
            </a:r>
            <a:r>
              <a:rPr lang="en-US" dirty="0"/>
              <a:t>) can be corrected with shorter reads, or with contigs (e.g. Illumina)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25076" y="1642870"/>
            <a:ext cx="6215607" cy="1945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AD8E2-E02B-98FB-DA6C-46C70257D44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92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953124" y="711033"/>
            <a:ext cx="16741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7FED9-0B58-9940-BC35-CDBFD4A67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400" y="6201425"/>
            <a:ext cx="2004092" cy="5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E7E26-149B-4C4A-B2AC-3902637054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1904" y="6224217"/>
            <a:ext cx="1788067" cy="55378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586D13-C9A3-4240-9274-BC8A8E78D4D2}"/>
              </a:ext>
            </a:extLst>
          </p:cNvPr>
          <p:cNvCxnSpPr/>
          <p:nvPr/>
        </p:nvCxnSpPr>
        <p:spPr>
          <a:xfrm>
            <a:off x="0" y="6148533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69EDBB-A6DA-44BB-9B83-65A784EF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5792" y="6004855"/>
            <a:ext cx="2293762" cy="10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75070-F3D8-88C5-D95C-D0DF67659140}"/>
              </a:ext>
            </a:extLst>
          </p:cNvPr>
          <p:cNvSpPr txBox="1"/>
          <p:nvPr/>
        </p:nvSpPr>
        <p:spPr>
          <a:xfrm>
            <a:off x="2984713" y="1805702"/>
            <a:ext cx="5610960" cy="3359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Second generation sequencing (Illumina)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Sequencing errors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Phred scores, </a:t>
            </a:r>
            <a:r>
              <a:rPr lang="en-US" sz="2400" dirty="0" err="1">
                <a:ea typeface="Tahoma" panose="020B0604030504040204" pitchFamily="34" charset="0"/>
                <a:cs typeface="Tahoma" panose="020B0604030504040204" pitchFamily="34" charset="0"/>
              </a:rPr>
              <a:t>fastq</a:t>
            </a: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 files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Third generation sequencing (Nanopore)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Homopolymer errors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Consensus correction</a:t>
            </a:r>
          </a:p>
        </p:txBody>
      </p:sp>
    </p:spTree>
    <p:extLst>
      <p:ext uri="{BB962C8B-B14F-4D97-AF65-F5344CB8AC3E}">
        <p14:creationId xmlns:p14="http://schemas.microsoft.com/office/powerpoint/2010/main" val="6127062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1166</Words>
  <Application>Microsoft Office PowerPoint</Application>
  <PresentationFormat>Widescreen</PresentationFormat>
  <Paragraphs>269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Merriweather</vt:lpstr>
      <vt:lpstr>Open Sans Light</vt:lpstr>
      <vt:lpstr>Times New Roman</vt:lpstr>
      <vt:lpstr>Wingdings</vt:lpstr>
      <vt:lpstr>1_Office Theme</vt:lpstr>
      <vt:lpstr>DNA sequencing, accuracy and errors</vt:lpstr>
      <vt:lpstr>PowerPoint Presentation</vt:lpstr>
      <vt:lpstr>Microbial sequencing projects</vt:lpstr>
      <vt:lpstr>PowerPoint Presentation</vt:lpstr>
      <vt:lpstr>PowerPoint Presentation</vt:lpstr>
      <vt:lpstr>Illumina sequencing</vt:lpstr>
      <vt:lpstr>PowerPoint Presentation</vt:lpstr>
      <vt:lpstr>PowerPoint Presentation</vt:lpstr>
      <vt:lpstr>PowerPoint Presentation</vt:lpstr>
      <vt:lpstr>Phred score in ASCII text</vt:lpstr>
      <vt:lpstr>Fastq files</vt:lpstr>
      <vt:lpstr>Phred scores in fastq files</vt:lpstr>
      <vt:lpstr>Fastq files</vt:lpstr>
      <vt:lpstr>Fasta files</vt:lpstr>
      <vt:lpstr>PowerPoint Presentation</vt:lpstr>
      <vt:lpstr>Third generation (Long-read) sequencing methods</vt:lpstr>
      <vt:lpstr>Oxford Nanopore </vt:lpstr>
      <vt:lpstr>Nanopore accuracy</vt:lpstr>
      <vt:lpstr>Homopolymer errors</vt:lpstr>
      <vt:lpstr>Consensus correction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strategies for genomics and metagenomics</dc:title>
  <dc:creator>Dutilh, B.E. (Bas)</dc:creator>
  <cp:lastModifiedBy>Graaf-van Bloois, L. van der (Linda)</cp:lastModifiedBy>
  <cp:revision>203</cp:revision>
  <cp:lastPrinted>2016-09-22T20:35:49Z</cp:lastPrinted>
  <dcterms:created xsi:type="dcterms:W3CDTF">2016-05-09T17:33:48Z</dcterms:created>
  <dcterms:modified xsi:type="dcterms:W3CDTF">2023-11-15T09:25:30Z</dcterms:modified>
</cp:coreProperties>
</file>