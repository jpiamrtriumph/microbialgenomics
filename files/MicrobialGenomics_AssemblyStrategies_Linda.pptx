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564" r:id="rId2"/>
    <p:sldId id="351" r:id="rId3"/>
    <p:sldId id="411" r:id="rId4"/>
    <p:sldId id="424" r:id="rId5"/>
    <p:sldId id="412" r:id="rId6"/>
    <p:sldId id="566" r:id="rId7"/>
    <p:sldId id="565" r:id="rId8"/>
    <p:sldId id="445" r:id="rId9"/>
    <p:sldId id="338" r:id="rId10"/>
    <p:sldId id="290" r:id="rId11"/>
    <p:sldId id="276" r:id="rId12"/>
    <p:sldId id="581" r:id="rId13"/>
    <p:sldId id="563" r:id="rId14"/>
    <p:sldId id="425" r:id="rId15"/>
    <p:sldId id="571" r:id="rId16"/>
    <p:sldId id="401" r:id="rId17"/>
    <p:sldId id="576" r:id="rId18"/>
    <p:sldId id="356" r:id="rId19"/>
    <p:sldId id="582" r:id="rId20"/>
    <p:sldId id="489" r:id="rId21"/>
    <p:sldId id="573" r:id="rId22"/>
    <p:sldId id="575" r:id="rId23"/>
    <p:sldId id="49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051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5"/>
    <p:restoredTop sz="92949" autoAdjust="0"/>
  </p:normalViewPr>
  <p:slideViewPr>
    <p:cSldViewPr snapToGrid="0" snapToObjects="1">
      <p:cViewPr varScale="1">
        <p:scale>
          <a:sx n="90" d="100"/>
          <a:sy n="90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03109A-05BB-2E46-A208-CD996526F4DD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B667C-90C1-E246-BF22-DC7D63D04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57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973A4-D774-A646-A93C-9713A82F0C35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0D201-2437-2D42-9A05-8839CA51E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1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6734B-2390-A44E-B4E1-C667C84CCD02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101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20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Contigs are sequences that are continuously represented by sequences in the DNA sequencing reads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57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96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13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Reference-guided assembly is not considered appropriate for assembly of new species.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05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know from the tree of life that there are many bacterial species that we have not seen before. </a:t>
            </a:r>
          </a:p>
          <a:p>
            <a:r>
              <a:rPr lang="en-US" dirty="0"/>
              <a:t>Tree of life: made in 2016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56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Depth: Number of times that a nucleotide in a target genome has been sequenced or recovered</a:t>
            </a:r>
          </a:p>
          <a:p>
            <a:r>
              <a:rPr lang="en-US" dirty="0"/>
              <a:t>Horizontal coverage: percentage of the target in a sequence recovered in the assembled contigs for its scaffolds</a:t>
            </a:r>
          </a:p>
          <a:p>
            <a:endParaRPr lang="en-US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50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14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05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ORFs: 3 in every 64 codons should be a stop codon. If you find ORFs with the length of a real protein; indication that assembly represents real biological sequence. Wrong sequence: much shorter ORFs.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15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58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80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0D201-2437-2D42-9A05-8839CA51E0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98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>
            <a:defPPr lvl="0">
              <a:buNone/>
            </a:defPPr>
            <a:lvl1pPr lvl="0">
              <a:buNone/>
            </a:lvl1pPr>
            <a:lvl2pPr lvl="1">
              <a:buClr>
                <a:srgbClr val="000000"/>
              </a:buClr>
              <a:buSzPct val="100000"/>
              <a:buFont typeface="Times New Roman" pitchFamily="17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7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7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7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7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7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7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7"/>
              <a:buChar char="•"/>
            </a:lvl9pPr>
          </a:lstStyle>
          <a:p>
            <a:r>
              <a:rPr lang="en-US" dirty="0"/>
              <a:t>16S present multiple times in single genome.</a:t>
            </a:r>
          </a:p>
          <a:p>
            <a:r>
              <a:rPr lang="en-US" dirty="0"/>
              <a:t>Not only bioinformatic problem, but also biological, example salmonella who is </a:t>
            </a:r>
            <a:r>
              <a:rPr lang="en-US" dirty="0" err="1"/>
              <a:t>recombining^RNA</a:t>
            </a:r>
            <a:r>
              <a:rPr lang="en-US" dirty="0"/>
              <a:t> operon</a:t>
            </a:r>
          </a:p>
        </p:txBody>
      </p:sp>
    </p:spTree>
    <p:extLst>
      <p:ext uri="{BB962C8B-B14F-4D97-AF65-F5344CB8AC3E}">
        <p14:creationId xmlns:p14="http://schemas.microsoft.com/office/powerpoint/2010/main" val="5577957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>
            <a:defPPr lvl="0">
              <a:buNone/>
            </a:defPPr>
            <a:lvl1pPr lvl="0">
              <a:buNone/>
            </a:lvl1pPr>
            <a:lvl2pPr lvl="1">
              <a:buClr>
                <a:srgbClr val="000000"/>
              </a:buClr>
              <a:buSzPct val="100000"/>
              <a:buFont typeface="Times New Roman" pitchFamily="17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7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7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7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7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7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7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7"/>
              <a:buChar char="•"/>
            </a:lvl9pPr>
          </a:lstStyle>
          <a:p>
            <a:r>
              <a:rPr lang="en-US" dirty="0"/>
              <a:t>16S present multiple times in single genome.</a:t>
            </a:r>
          </a:p>
          <a:p>
            <a:r>
              <a:rPr lang="en-US" dirty="0"/>
              <a:t>Not only bioinformatic problem, but also biological, example salmonella who is </a:t>
            </a:r>
            <a:r>
              <a:rPr lang="en-US" dirty="0" err="1"/>
              <a:t>recombining^RNA</a:t>
            </a:r>
            <a:r>
              <a:rPr lang="en-US" dirty="0"/>
              <a:t> operon</a:t>
            </a:r>
          </a:p>
        </p:txBody>
      </p:sp>
    </p:spTree>
    <p:extLst>
      <p:ext uri="{BB962C8B-B14F-4D97-AF65-F5344CB8AC3E}">
        <p14:creationId xmlns:p14="http://schemas.microsoft.com/office/powerpoint/2010/main" val="22882293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173DF-135E-4D0A-B316-D61AEE3D12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72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173DF-135E-4D0A-B316-D61AEE3D12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62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92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60FF63-C1E5-F3CA-0782-1BC42FA761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90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565D60-D4B3-7537-781F-E153A60722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89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A1CB2C-0F7B-3C20-C0F8-9243AA76F2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16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967C6F-09CD-6DD9-935B-243CF95817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2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0B372F-3D3A-CA1A-EDA6-27A8363728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578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FFB79-6189-D98E-140E-BCB595A423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9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A67538-A241-AAC5-7772-D1BFD28BF5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3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BE5D2F-C93A-BC34-56D1-CEDA4A5C2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930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A3A944-895E-B562-3D2F-6CCD1346CF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57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0C8C5F-FBEF-4EAF-2AE0-FED59CD281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423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Klik</a:t>
            </a:r>
            <a:r>
              <a:rPr lang="en-US" noProof="0" dirty="0"/>
              <a:t> om de </a:t>
            </a:r>
            <a:r>
              <a:rPr lang="en-US" noProof="0" dirty="0" err="1"/>
              <a:t>stijl</a:t>
            </a:r>
            <a:r>
              <a:rPr lang="en-US" noProof="0" dirty="0"/>
              <a:t> </a:t>
            </a:r>
            <a:r>
              <a:rPr lang="en-US" noProof="0" dirty="0" err="1"/>
              <a:t>te</a:t>
            </a:r>
            <a:r>
              <a:rPr lang="en-US" noProof="0" dirty="0"/>
              <a:t> </a:t>
            </a:r>
            <a:r>
              <a:rPr lang="en-US" noProof="0" dirty="0" err="1"/>
              <a:t>bewerken</a:t>
            </a:r>
            <a:endParaRPr lang="en-US" noProof="0" dirty="0"/>
          </a:p>
        </p:txBody>
      </p:sp>
      <p:sp>
        <p:nvSpPr>
          <p:cNvPr id="4" name="Tijdelijke aanduiding voor tekst 2"/>
          <p:cNvSpPr>
            <a:spLocks noGrp="1"/>
          </p:cNvSpPr>
          <p:nvPr>
            <p:ph idx="1"/>
          </p:nvPr>
        </p:nvSpPr>
        <p:spPr bwMode="auto">
          <a:xfrm>
            <a:off x="508001" y="1066800"/>
            <a:ext cx="1120052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5297" tIns="25297" rIns="25297" bIns="252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 noProof="0" dirty="0" err="1"/>
              <a:t>Klik</a:t>
            </a:r>
            <a:r>
              <a:rPr lang="en-US" altLang="nl-NL" noProof="0" dirty="0"/>
              <a:t> om de </a:t>
            </a:r>
            <a:r>
              <a:rPr lang="en-US" altLang="nl-NL" noProof="0" dirty="0" err="1"/>
              <a:t>tekststijl</a:t>
            </a:r>
            <a:r>
              <a:rPr lang="en-US" altLang="nl-NL" noProof="0" dirty="0"/>
              <a:t> van het model </a:t>
            </a:r>
            <a:r>
              <a:rPr lang="en-US" altLang="nl-NL" noProof="0" dirty="0" err="1"/>
              <a:t>te</a:t>
            </a:r>
            <a:r>
              <a:rPr lang="en-US" altLang="nl-NL" noProof="0" dirty="0"/>
              <a:t> </a:t>
            </a:r>
            <a:r>
              <a:rPr lang="en-US" altLang="nl-NL" noProof="0" dirty="0" err="1"/>
              <a:t>bewerken</a:t>
            </a:r>
            <a:endParaRPr lang="en-US" altLang="nl-NL" noProof="0" dirty="0"/>
          </a:p>
          <a:p>
            <a:pPr lvl="1"/>
            <a:r>
              <a:rPr lang="en-US" altLang="nl-NL" noProof="0" dirty="0" err="1"/>
              <a:t>Tweede</a:t>
            </a:r>
            <a:r>
              <a:rPr lang="en-US" altLang="nl-NL" noProof="0" dirty="0"/>
              <a:t> </a:t>
            </a:r>
            <a:r>
              <a:rPr lang="en-US" altLang="nl-NL" noProof="0" dirty="0" err="1"/>
              <a:t>niveau</a:t>
            </a:r>
            <a:endParaRPr lang="en-US" altLang="nl-NL" noProof="0" dirty="0"/>
          </a:p>
          <a:p>
            <a:pPr lvl="2"/>
            <a:r>
              <a:rPr lang="en-US" altLang="nl-NL" noProof="0" dirty="0" err="1"/>
              <a:t>Derde</a:t>
            </a:r>
            <a:r>
              <a:rPr lang="en-US" altLang="nl-NL" noProof="0" dirty="0"/>
              <a:t> </a:t>
            </a:r>
            <a:r>
              <a:rPr lang="en-US" altLang="nl-NL" noProof="0" dirty="0" err="1"/>
              <a:t>niveau</a:t>
            </a:r>
            <a:endParaRPr lang="en-US" altLang="nl-NL" noProof="0" dirty="0"/>
          </a:p>
          <a:p>
            <a:pPr lvl="3"/>
            <a:r>
              <a:rPr lang="en-US" altLang="nl-NL" noProof="0" dirty="0" err="1"/>
              <a:t>Vierde</a:t>
            </a:r>
            <a:r>
              <a:rPr lang="en-US" altLang="nl-NL" noProof="0" dirty="0"/>
              <a:t> </a:t>
            </a:r>
            <a:r>
              <a:rPr lang="en-US" altLang="nl-NL" noProof="0" dirty="0" err="1"/>
              <a:t>niveau</a:t>
            </a:r>
            <a:endParaRPr lang="en-US" altLang="nl-NL" noProof="0" dirty="0"/>
          </a:p>
          <a:p>
            <a:pPr lvl="4"/>
            <a:r>
              <a:rPr lang="en-US" altLang="nl-NL" noProof="0" dirty="0" err="1"/>
              <a:t>Vijfde</a:t>
            </a:r>
            <a:r>
              <a:rPr lang="en-US" altLang="nl-NL" noProof="0" dirty="0"/>
              <a:t> </a:t>
            </a:r>
            <a:r>
              <a:rPr lang="en-US" altLang="nl-NL" noProof="0" dirty="0" err="1"/>
              <a:t>niveau</a:t>
            </a:r>
            <a:endParaRPr lang="en-US" altLang="nl-NL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4F2810-72CC-64FA-EC8C-2B16FD899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9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6F45E-D550-40AB-8F80-1024362D300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AA03E-7572-482C-A03D-ABF6E71083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741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tiff"/><Relationship Id="rId3" Type="http://schemas.openxmlformats.org/officeDocument/2006/relationships/image" Target="../media/image7.tiff"/><Relationship Id="rId7" Type="http://schemas.openxmlformats.org/officeDocument/2006/relationships/image" Target="../media/image10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10" Type="http://schemas.openxmlformats.org/officeDocument/2006/relationships/image" Target="../media/image13.gif"/><Relationship Id="rId4" Type="http://schemas.openxmlformats.org/officeDocument/2006/relationships/image" Target="../media/image8.tiff"/><Relationship Id="rId9" Type="http://schemas.openxmlformats.org/officeDocument/2006/relationships/image" Target="../media/image12.tif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7197" y="802891"/>
            <a:ext cx="10317480" cy="164340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400" dirty="0">
                <a:solidFill>
                  <a:schemeClr val="accent1"/>
                </a:solidFill>
              </a:rPr>
              <a:t>Assembly strategies for </a:t>
            </a:r>
            <a:br>
              <a:rPr lang="en-US" sz="4400" dirty="0">
                <a:solidFill>
                  <a:schemeClr val="accent1"/>
                </a:solidFill>
              </a:rPr>
            </a:br>
            <a:r>
              <a:rPr lang="en-US" sz="4400" dirty="0">
                <a:solidFill>
                  <a:schemeClr val="accent1"/>
                </a:solidFill>
              </a:rPr>
              <a:t>genomics and metagenomics</a:t>
            </a:r>
            <a:endParaRPr lang="en-US" sz="4000" i="1" dirty="0">
              <a:solidFill>
                <a:schemeClr val="accent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19145" y="3393353"/>
            <a:ext cx="51662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ea typeface="Tahoma" panose="020B0604030504040204" pitchFamily="34" charset="0"/>
                <a:cs typeface="Tahoma" panose="020B0604030504040204" pitchFamily="34" charset="0"/>
              </a:rPr>
              <a:t>Linda van der Graaf – van Bloois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7068" y="4240970"/>
            <a:ext cx="5777864" cy="1143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Faculty of Veterinary Medicine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Department of Biomolecular Health Sciences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47FED9-0B58-9940-BC35-CDBFD4A67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5400" y="6201425"/>
            <a:ext cx="2004092" cy="584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6E7E26-149B-4C4A-B2AC-3902637054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1904" y="6224217"/>
            <a:ext cx="1788067" cy="55378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586D13-C9A3-4240-9274-BC8A8E78D4D2}"/>
              </a:ext>
            </a:extLst>
          </p:cNvPr>
          <p:cNvCxnSpPr/>
          <p:nvPr/>
        </p:nvCxnSpPr>
        <p:spPr>
          <a:xfrm>
            <a:off x="0" y="6148533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D369EDBB-A6DA-44BB-9B83-65A784EF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65792" y="6004855"/>
            <a:ext cx="2293762" cy="100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86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https://flxlexblog.files.wordpress.com/2015/06/june_2015_with_minion1.jp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4003" y="0"/>
            <a:ext cx="9144001" cy="6858000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8601919" y="785512"/>
            <a:ext cx="70404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prstClr val="black"/>
                </a:solidFill>
              </a:rPr>
              <a:t>2015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513636" y="46298"/>
            <a:ext cx="7724588" cy="5984112"/>
            <a:chOff x="989635" y="46298"/>
            <a:chExt cx="7724588" cy="5984112"/>
          </a:xfrm>
        </p:grpSpPr>
        <p:sp>
          <p:nvSpPr>
            <p:cNvPr id="4" name="Oval 3"/>
            <p:cNvSpPr/>
            <p:nvPr/>
          </p:nvSpPr>
          <p:spPr>
            <a:xfrm>
              <a:off x="4953965" y="4919240"/>
              <a:ext cx="1238491" cy="1111170"/>
            </a:xfrm>
            <a:prstGeom prst="ellipse">
              <a:avLst/>
            </a:prstGeom>
            <a:noFill/>
            <a:ln w="57150"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1285800" y="46298"/>
              <a:ext cx="4506322" cy="4734046"/>
            </a:xfrm>
            <a:prstGeom prst="ellipse">
              <a:avLst/>
            </a:prstGeom>
            <a:noFill/>
            <a:ln w="57150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960962" y="1306763"/>
              <a:ext cx="2025570" cy="2715047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973747" y="3964412"/>
              <a:ext cx="1740476" cy="646331"/>
            </a:xfrm>
            <a:prstGeom prst="rect">
              <a:avLst/>
            </a:prstGeom>
            <a:solidFill>
              <a:srgbClr val="FF7E79"/>
            </a:solidFill>
            <a:ln w="38100">
              <a:solidFill>
                <a:srgbClr val="FF0000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Third generation</a:t>
              </a:r>
            </a:p>
            <a:p>
              <a:pPr algn="ctr"/>
              <a:r>
                <a:rPr lang="en-US" b="1" dirty="0"/>
                <a:t>- Long reads -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89635" y="4272644"/>
              <a:ext cx="1937262" cy="64633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accent6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Second generation</a:t>
              </a:r>
            </a:p>
            <a:p>
              <a:pPr algn="ctr"/>
              <a:r>
                <a:rPr lang="en-US" b="1" dirty="0"/>
                <a:t>- Short reads -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448078" y="5084512"/>
              <a:ext cx="1654043" cy="36933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25000"/>
                </a:schemeClr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First generation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96353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canned image of page 2601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bg2">
                <a:lumMod val="9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52" t="4287" r="5806" b="36152"/>
          <a:stretch>
            <a:fillRect/>
          </a:stretch>
        </p:blipFill>
        <p:spPr bwMode="auto">
          <a:xfrm>
            <a:off x="2808790" y="115654"/>
            <a:ext cx="6659062" cy="6802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697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F994781D-EB6C-E44C-843B-F981AF8A3360}"/>
              </a:ext>
            </a:extLst>
          </p:cNvPr>
          <p:cNvGrpSpPr/>
          <p:nvPr/>
        </p:nvGrpSpPr>
        <p:grpSpPr>
          <a:xfrm>
            <a:off x="1751577" y="5342080"/>
            <a:ext cx="8594392" cy="1969448"/>
            <a:chOff x="227577" y="5342080"/>
            <a:chExt cx="8594392" cy="1969448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8980822-9D4F-7D4D-8AAB-89F6278EA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390047">
              <a:off x="4929548" y="5601277"/>
              <a:ext cx="936698" cy="1234584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85D82AF5-6421-DE49-8742-2710830E8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1023366" flipH="1">
              <a:off x="1679329" y="5491924"/>
              <a:ext cx="1380562" cy="1819604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7F0D675-829C-D346-B2A6-E46BDBF30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FFFF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3316127" y="5512856"/>
              <a:ext cx="1154473" cy="152161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89D61DB-2910-9547-B2EA-DF5F7AEBF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6341130" y="5548468"/>
              <a:ext cx="1154474" cy="152161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4690403-59ED-554E-8FF3-5986B2C15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1330800">
              <a:off x="7885271" y="5583214"/>
              <a:ext cx="936698" cy="1234584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DFD00B6-22D4-6347-A473-469B6A52C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52712">
              <a:off x="227577" y="5617603"/>
              <a:ext cx="936698" cy="1234584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C4D37E5-460E-834B-84F4-D0ED06262718}"/>
                </a:ext>
              </a:extLst>
            </p:cNvPr>
            <p:cNvSpPr/>
            <p:nvPr/>
          </p:nvSpPr>
          <p:spPr>
            <a:xfrm>
              <a:off x="2742871" y="5342080"/>
              <a:ext cx="3747905" cy="285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Binning (metagenomics)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0D79FD9-BA07-2547-BE58-B2923006F407}"/>
              </a:ext>
            </a:extLst>
          </p:cNvPr>
          <p:cNvGrpSpPr/>
          <p:nvPr/>
        </p:nvGrpSpPr>
        <p:grpSpPr>
          <a:xfrm>
            <a:off x="6316027" y="5825990"/>
            <a:ext cx="1136276" cy="508165"/>
            <a:chOff x="4914213" y="6092660"/>
            <a:chExt cx="1136276" cy="5081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17FC8D4-99DA-344F-B53D-ED34501D8A04}"/>
                </a:ext>
              </a:extLst>
            </p:cNvPr>
            <p:cNvSpPr/>
            <p:nvPr/>
          </p:nvSpPr>
          <p:spPr>
            <a:xfrm>
              <a:off x="4914213" y="6092660"/>
              <a:ext cx="936251" cy="6049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9C8A24F-8F02-1F42-8EB0-5D16C1276167}"/>
                </a:ext>
              </a:extLst>
            </p:cNvPr>
            <p:cNvSpPr/>
            <p:nvPr/>
          </p:nvSpPr>
          <p:spPr>
            <a:xfrm>
              <a:off x="5278119" y="6311735"/>
              <a:ext cx="772370" cy="6049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8A6AF70-956D-8942-BB92-0DF0AEADC8C9}"/>
                </a:ext>
              </a:extLst>
            </p:cNvPr>
            <p:cNvSpPr/>
            <p:nvPr/>
          </p:nvSpPr>
          <p:spPr>
            <a:xfrm>
              <a:off x="5252682" y="6540335"/>
              <a:ext cx="407281" cy="6049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58F9044-4E5A-B245-B6DE-F9912554FB61}"/>
              </a:ext>
            </a:extLst>
          </p:cNvPr>
          <p:cNvGrpSpPr/>
          <p:nvPr/>
        </p:nvGrpSpPr>
        <p:grpSpPr>
          <a:xfrm>
            <a:off x="4816316" y="5873615"/>
            <a:ext cx="1136276" cy="508165"/>
            <a:chOff x="3647388" y="6140285"/>
            <a:chExt cx="1136276" cy="50816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D05706A-4F4B-8A42-AFCD-5B438848E31A}"/>
                </a:ext>
              </a:extLst>
            </p:cNvPr>
            <p:cNvSpPr/>
            <p:nvPr/>
          </p:nvSpPr>
          <p:spPr>
            <a:xfrm>
              <a:off x="3647388" y="6140285"/>
              <a:ext cx="936251" cy="60490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6857ADC-AC3A-5546-8BF5-1A3E64CFEB29}"/>
                </a:ext>
              </a:extLst>
            </p:cNvPr>
            <p:cNvSpPr/>
            <p:nvPr/>
          </p:nvSpPr>
          <p:spPr>
            <a:xfrm>
              <a:off x="4011294" y="6359360"/>
              <a:ext cx="772370" cy="60490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EAB6178-05BD-BF45-B4A2-AAEDA5146AC2}"/>
                </a:ext>
              </a:extLst>
            </p:cNvPr>
            <p:cNvSpPr/>
            <p:nvPr/>
          </p:nvSpPr>
          <p:spPr>
            <a:xfrm>
              <a:off x="3985857" y="6587960"/>
              <a:ext cx="407281" cy="60490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07615BC-D8E6-794B-8357-841322EED3CE}"/>
              </a:ext>
            </a:extLst>
          </p:cNvPr>
          <p:cNvGrpSpPr/>
          <p:nvPr/>
        </p:nvGrpSpPr>
        <p:grpSpPr>
          <a:xfrm>
            <a:off x="3316605" y="5940290"/>
            <a:ext cx="1136276" cy="508165"/>
            <a:chOff x="2218638" y="6206960"/>
            <a:chExt cx="1136276" cy="508165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14EF323-A9CC-6C49-8958-8D3E65DF7329}"/>
                </a:ext>
              </a:extLst>
            </p:cNvPr>
            <p:cNvSpPr/>
            <p:nvPr/>
          </p:nvSpPr>
          <p:spPr>
            <a:xfrm>
              <a:off x="2218638" y="6206960"/>
              <a:ext cx="936251" cy="60490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078A76-A106-ED47-AC26-E37AE328D39A}"/>
                </a:ext>
              </a:extLst>
            </p:cNvPr>
            <p:cNvSpPr/>
            <p:nvPr/>
          </p:nvSpPr>
          <p:spPr>
            <a:xfrm>
              <a:off x="2582544" y="6426035"/>
              <a:ext cx="772370" cy="60490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9AC82AC-09BF-8940-8B26-57C8A064C1A9}"/>
                </a:ext>
              </a:extLst>
            </p:cNvPr>
            <p:cNvSpPr/>
            <p:nvPr/>
          </p:nvSpPr>
          <p:spPr>
            <a:xfrm>
              <a:off x="2557107" y="6654635"/>
              <a:ext cx="407281" cy="60490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1B34595-DBB1-B248-B897-777FAF4D428D}"/>
              </a:ext>
            </a:extLst>
          </p:cNvPr>
          <p:cNvGrpSpPr/>
          <p:nvPr/>
        </p:nvGrpSpPr>
        <p:grpSpPr>
          <a:xfrm>
            <a:off x="1816894" y="5873615"/>
            <a:ext cx="1136276" cy="508165"/>
            <a:chOff x="1037538" y="6140285"/>
            <a:chExt cx="1136276" cy="508165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441D25E-BC83-FB4C-9A04-2FA355011712}"/>
                </a:ext>
              </a:extLst>
            </p:cNvPr>
            <p:cNvSpPr/>
            <p:nvPr/>
          </p:nvSpPr>
          <p:spPr>
            <a:xfrm>
              <a:off x="1037538" y="6140285"/>
              <a:ext cx="936251" cy="6049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CB1F2DE-445B-F44B-ABC5-03DDC384E4DC}"/>
                </a:ext>
              </a:extLst>
            </p:cNvPr>
            <p:cNvSpPr/>
            <p:nvPr/>
          </p:nvSpPr>
          <p:spPr>
            <a:xfrm>
              <a:off x="1401444" y="6359360"/>
              <a:ext cx="772370" cy="6049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0FAF765-BA3D-6743-AACB-0A99F7F4FB5E}"/>
                </a:ext>
              </a:extLst>
            </p:cNvPr>
            <p:cNvSpPr/>
            <p:nvPr/>
          </p:nvSpPr>
          <p:spPr>
            <a:xfrm>
              <a:off x="1376007" y="6587960"/>
              <a:ext cx="407281" cy="6049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176F758-A506-014D-8135-6681373EB362}"/>
              </a:ext>
            </a:extLst>
          </p:cNvPr>
          <p:cNvGrpSpPr/>
          <p:nvPr/>
        </p:nvGrpSpPr>
        <p:grpSpPr>
          <a:xfrm>
            <a:off x="7815738" y="5825990"/>
            <a:ext cx="1136276" cy="508165"/>
            <a:chOff x="6238188" y="6092660"/>
            <a:chExt cx="1136276" cy="50816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C3EE570-AF9F-5A49-996D-22F5150F52F5}"/>
                </a:ext>
              </a:extLst>
            </p:cNvPr>
            <p:cNvSpPr/>
            <p:nvPr/>
          </p:nvSpPr>
          <p:spPr>
            <a:xfrm>
              <a:off x="6238188" y="6092660"/>
              <a:ext cx="936251" cy="60490"/>
            </a:xfrm>
            <a:prstGeom prst="rect">
              <a:avLst/>
            </a:prstGeom>
            <a:solidFill>
              <a:srgbClr val="00905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CFAF80C-EAB2-094D-BF6C-1D0E0F5C3932}"/>
                </a:ext>
              </a:extLst>
            </p:cNvPr>
            <p:cNvSpPr/>
            <p:nvPr/>
          </p:nvSpPr>
          <p:spPr>
            <a:xfrm>
              <a:off x="6602094" y="6311735"/>
              <a:ext cx="772370" cy="60490"/>
            </a:xfrm>
            <a:prstGeom prst="rect">
              <a:avLst/>
            </a:prstGeom>
            <a:solidFill>
              <a:srgbClr val="00905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3E7A154-7300-D949-8E61-A43F2AC30B60}"/>
                </a:ext>
              </a:extLst>
            </p:cNvPr>
            <p:cNvSpPr/>
            <p:nvPr/>
          </p:nvSpPr>
          <p:spPr>
            <a:xfrm>
              <a:off x="6576657" y="6540335"/>
              <a:ext cx="407281" cy="60490"/>
            </a:xfrm>
            <a:prstGeom prst="rect">
              <a:avLst/>
            </a:prstGeom>
            <a:solidFill>
              <a:srgbClr val="00905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23CFC64-7DF9-9B41-817D-760EB8DEEB7B}"/>
              </a:ext>
            </a:extLst>
          </p:cNvPr>
          <p:cNvGrpSpPr/>
          <p:nvPr/>
        </p:nvGrpSpPr>
        <p:grpSpPr>
          <a:xfrm>
            <a:off x="9315450" y="5787890"/>
            <a:ext cx="1136276" cy="508165"/>
            <a:chOff x="7609788" y="6054560"/>
            <a:chExt cx="1136276" cy="50816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69F2C94-8AF9-5F41-BC10-2E03CEBE2F8E}"/>
                </a:ext>
              </a:extLst>
            </p:cNvPr>
            <p:cNvSpPr/>
            <p:nvPr/>
          </p:nvSpPr>
          <p:spPr>
            <a:xfrm>
              <a:off x="7609788" y="6054560"/>
              <a:ext cx="936251" cy="60490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1D0C944-DA72-CA4C-9F60-72EF1FF5162B}"/>
                </a:ext>
              </a:extLst>
            </p:cNvPr>
            <p:cNvSpPr/>
            <p:nvPr/>
          </p:nvSpPr>
          <p:spPr>
            <a:xfrm>
              <a:off x="7973694" y="6273635"/>
              <a:ext cx="772370" cy="60490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52C65E4-0616-384E-B40C-491DE7AF4119}"/>
                </a:ext>
              </a:extLst>
            </p:cNvPr>
            <p:cNvSpPr/>
            <p:nvPr/>
          </p:nvSpPr>
          <p:spPr>
            <a:xfrm>
              <a:off x="7948257" y="6502235"/>
              <a:ext cx="407281" cy="60490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23298FB2-7622-B644-9C80-C80A765CEBE8}"/>
              </a:ext>
            </a:extLst>
          </p:cNvPr>
          <p:cNvSpPr/>
          <p:nvPr/>
        </p:nvSpPr>
        <p:spPr>
          <a:xfrm>
            <a:off x="1524000" y="1"/>
            <a:ext cx="9144000" cy="5156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E4319B-288C-8445-99A1-F34D5ADA828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8505284" flipH="1">
            <a:off x="1193646" y="-1238835"/>
            <a:ext cx="1497917" cy="30853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017993-5B22-4544-AFF8-B25C866DB70E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8888171" flipH="1">
            <a:off x="9640117" y="132496"/>
            <a:ext cx="1431434" cy="32875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53721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Terminology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67D156C-FCD8-FC4B-B589-20304D04AE22}"/>
              </a:ext>
            </a:extLst>
          </p:cNvPr>
          <p:cNvGrpSpPr/>
          <p:nvPr/>
        </p:nvGrpSpPr>
        <p:grpSpPr>
          <a:xfrm>
            <a:off x="3124200" y="1468550"/>
            <a:ext cx="5753100" cy="742490"/>
            <a:chOff x="1600200" y="1468550"/>
            <a:chExt cx="5753100" cy="742490"/>
          </a:xfrm>
        </p:grpSpPr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67A9F71E-A25B-4B46-9596-67AC9243AD3E}"/>
                </a:ext>
              </a:extLst>
            </p:cNvPr>
            <p:cNvSpPr/>
            <p:nvPr/>
          </p:nvSpPr>
          <p:spPr>
            <a:xfrm>
              <a:off x="1600200" y="1468550"/>
              <a:ext cx="2125312" cy="731726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forward reads</a:t>
              </a:r>
            </a:p>
          </p:txBody>
        </p:sp>
        <p:sp>
          <p:nvSpPr>
            <p:cNvPr id="5" name="Left Arrow 4">
              <a:extLst>
                <a:ext uri="{FF2B5EF4-FFF2-40B4-BE49-F238E27FC236}">
                  <a16:creationId xmlns:a16="http://schemas.microsoft.com/office/drawing/2014/main" id="{3FC50BC0-4F08-A84A-AE0A-E05C072F028A}"/>
                </a:ext>
              </a:extLst>
            </p:cNvPr>
            <p:cNvSpPr/>
            <p:nvPr/>
          </p:nvSpPr>
          <p:spPr>
            <a:xfrm>
              <a:off x="5397450" y="1479314"/>
              <a:ext cx="1955850" cy="731726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reverse reads</a:t>
              </a:r>
            </a:p>
          </p:txBody>
        </p:sp>
      </p:grpSp>
      <p:pic>
        <p:nvPicPr>
          <p:cNvPr id="8" name="Picture 2" descr="http://www2.le.ac.uk/departments/genetics/vgec/diagrams/217%20whole%20gen%20seq%20b.gif">
            <a:extLst>
              <a:ext uri="{FF2B5EF4-FFF2-40B4-BE49-F238E27FC236}">
                <a16:creationId xmlns:a16="http://schemas.microsoft.com/office/drawing/2014/main" id="{FEF999CA-FE3E-D74F-8E9C-C16068DBA2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436" b="46856"/>
          <a:stretch/>
        </p:blipFill>
        <p:spPr bwMode="auto">
          <a:xfrm>
            <a:off x="1524000" y="2487105"/>
            <a:ext cx="9144000" cy="1522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D6635BC-9FCA-1440-BE01-3E070B19B903}"/>
              </a:ext>
            </a:extLst>
          </p:cNvPr>
          <p:cNvSpPr/>
          <p:nvPr/>
        </p:nvSpPr>
        <p:spPr>
          <a:xfrm>
            <a:off x="9315450" y="94354"/>
            <a:ext cx="552450" cy="3485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0D9A4F-A1AE-2E4F-8035-6C20F62E1F86}"/>
              </a:ext>
            </a:extLst>
          </p:cNvPr>
          <p:cNvGrpSpPr/>
          <p:nvPr/>
        </p:nvGrpSpPr>
        <p:grpSpPr>
          <a:xfrm>
            <a:off x="2708703" y="455331"/>
            <a:ext cx="6584097" cy="1040453"/>
            <a:chOff x="1184702" y="455330"/>
            <a:chExt cx="6584097" cy="104045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EE37B56-F407-4648-8ACB-5F75CEF84BC1}"/>
                </a:ext>
              </a:extLst>
            </p:cNvPr>
            <p:cNvSpPr/>
            <p:nvPr/>
          </p:nvSpPr>
          <p:spPr>
            <a:xfrm>
              <a:off x="7353300" y="780153"/>
              <a:ext cx="45719" cy="7156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14274F8-5F04-3647-B665-845610BF6963}"/>
                </a:ext>
              </a:extLst>
            </p:cNvPr>
            <p:cNvSpPr/>
            <p:nvPr/>
          </p:nvSpPr>
          <p:spPr>
            <a:xfrm>
              <a:off x="1562100" y="780153"/>
              <a:ext cx="45719" cy="7156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414DC38-25AB-2B43-9B27-EF6695CDF050}"/>
                </a:ext>
              </a:extLst>
            </p:cNvPr>
            <p:cNvSpPr txBox="1"/>
            <p:nvPr/>
          </p:nvSpPr>
          <p:spPr>
            <a:xfrm rot="7885423">
              <a:off x="1200091" y="439941"/>
              <a:ext cx="80021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/>
                <a:t>✃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4DB21D4-195C-EE48-BA79-17B4414E6210}"/>
                </a:ext>
              </a:extLst>
            </p:cNvPr>
            <p:cNvSpPr txBox="1"/>
            <p:nvPr/>
          </p:nvSpPr>
          <p:spPr>
            <a:xfrm rot="4011016">
              <a:off x="6953191" y="439941"/>
              <a:ext cx="80021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/>
                <a:t>✁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1C8F23F-AF6B-2B45-8F5B-DA79A2AB2A5A}"/>
              </a:ext>
            </a:extLst>
          </p:cNvPr>
          <p:cNvSpPr/>
          <p:nvPr/>
        </p:nvSpPr>
        <p:spPr>
          <a:xfrm>
            <a:off x="3124200" y="891940"/>
            <a:ext cx="5753100" cy="552450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DNA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83074EC-420D-5C4E-BD46-18853BF2DC3B}"/>
              </a:ext>
            </a:extLst>
          </p:cNvPr>
          <p:cNvGrpSpPr/>
          <p:nvPr/>
        </p:nvGrpSpPr>
        <p:grpSpPr>
          <a:xfrm>
            <a:off x="1685366" y="4148010"/>
            <a:ext cx="8861611" cy="333664"/>
            <a:chOff x="161365" y="5143500"/>
            <a:chExt cx="8861611" cy="33366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6407C02-8F47-5A43-BB7D-0F3D63B1D78E}"/>
                </a:ext>
              </a:extLst>
            </p:cNvPr>
            <p:cNvSpPr/>
            <p:nvPr/>
          </p:nvSpPr>
          <p:spPr>
            <a:xfrm>
              <a:off x="2608729" y="5143500"/>
              <a:ext cx="4016189" cy="333664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contigs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55580F2-377C-AE48-8DA7-D721942C76AF}"/>
                </a:ext>
              </a:extLst>
            </p:cNvPr>
            <p:cNvSpPr/>
            <p:nvPr/>
          </p:nvSpPr>
          <p:spPr>
            <a:xfrm>
              <a:off x="7057168" y="5143500"/>
              <a:ext cx="1965808" cy="333664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396B24E-92BF-4D45-A574-A77874DD3334}"/>
                </a:ext>
              </a:extLst>
            </p:cNvPr>
            <p:cNvSpPr/>
            <p:nvPr/>
          </p:nvSpPr>
          <p:spPr>
            <a:xfrm>
              <a:off x="161365" y="5143500"/>
              <a:ext cx="2015114" cy="333664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16C88A5-F091-9442-9F23-B5FAF23B2DCA}"/>
              </a:ext>
            </a:extLst>
          </p:cNvPr>
          <p:cNvGrpSpPr/>
          <p:nvPr/>
        </p:nvGrpSpPr>
        <p:grpSpPr>
          <a:xfrm>
            <a:off x="-185366" y="3750527"/>
            <a:ext cx="10732343" cy="1400421"/>
            <a:chOff x="-1709367" y="4660010"/>
            <a:chExt cx="10732343" cy="1400421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7E393EF-1F5D-F14D-AB4A-408B0C29A1F6}"/>
                </a:ext>
              </a:extLst>
            </p:cNvPr>
            <p:cNvGrpSpPr/>
            <p:nvPr/>
          </p:nvGrpSpPr>
          <p:grpSpPr>
            <a:xfrm>
              <a:off x="161365" y="5726767"/>
              <a:ext cx="8861611" cy="333664"/>
              <a:chOff x="161365" y="5820896"/>
              <a:chExt cx="8861611" cy="333664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ED3BE13-C606-2D4D-B24E-340ECC893312}"/>
                  </a:ext>
                </a:extLst>
              </p:cNvPr>
              <p:cNvSpPr/>
              <p:nvPr/>
            </p:nvSpPr>
            <p:spPr>
              <a:xfrm>
                <a:off x="161365" y="5820896"/>
                <a:ext cx="6481482" cy="333664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CE62050-9D39-E540-93AE-FC7D80DEDD10}"/>
                  </a:ext>
                </a:extLst>
              </p:cNvPr>
              <p:cNvSpPr/>
              <p:nvPr/>
            </p:nvSpPr>
            <p:spPr>
              <a:xfrm>
                <a:off x="3862668" y="5857875"/>
                <a:ext cx="1600200" cy="285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/>
                  <a:t>scaffolds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3C847AB-AFB9-D849-B280-BCA407EB3D4D}"/>
                  </a:ext>
                </a:extLst>
              </p:cNvPr>
              <p:cNvSpPr/>
              <p:nvPr/>
            </p:nvSpPr>
            <p:spPr>
              <a:xfrm>
                <a:off x="1614768" y="5857875"/>
                <a:ext cx="1600200" cy="285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2"/>
                    </a:solidFill>
                  </a:rPr>
                  <a:t>NNN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DCDEF8D-327E-AC48-B150-57B60F925856}"/>
                  </a:ext>
                </a:extLst>
              </p:cNvPr>
              <p:cNvSpPr/>
              <p:nvPr/>
            </p:nvSpPr>
            <p:spPr>
              <a:xfrm>
                <a:off x="7057168" y="5820896"/>
                <a:ext cx="1965808" cy="333664"/>
              </a:xfrm>
              <a:prstGeom prst="rect">
                <a:avLst/>
              </a:prstGeom>
              <a:solidFill>
                <a:schemeClr val="accent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91938E96-5675-A749-9467-E08C4DE9A3EA}"/>
                </a:ext>
              </a:extLst>
            </p:cNvPr>
            <p:cNvGrpSpPr/>
            <p:nvPr/>
          </p:nvGrpSpPr>
          <p:grpSpPr>
            <a:xfrm>
              <a:off x="-1709367" y="4660010"/>
              <a:ext cx="4148888" cy="1015302"/>
              <a:chOff x="-1709367" y="4660010"/>
              <a:chExt cx="4148888" cy="1015302"/>
            </a:xfrm>
          </p:grpSpPr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E07038D0-FDDF-024D-9DA1-6787206588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9521" y="4660010"/>
                <a:ext cx="0" cy="101530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E0CFE54A-A7F1-F641-AB85-ABB3CFBB04B1}"/>
                  </a:ext>
                </a:extLst>
              </p:cNvPr>
              <p:cNvSpPr/>
              <p:nvPr/>
            </p:nvSpPr>
            <p:spPr>
              <a:xfrm>
                <a:off x="-1709367" y="5387056"/>
                <a:ext cx="2538675" cy="285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reference genome</a:t>
                </a:r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3C61804-66AA-8144-9832-E480AB957274}"/>
              </a:ext>
            </a:extLst>
          </p:cNvPr>
          <p:cNvSpPr/>
          <p:nvPr/>
        </p:nvSpPr>
        <p:spPr>
          <a:xfrm>
            <a:off x="3124200" y="895372"/>
            <a:ext cx="5753100" cy="552450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DNA fragments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C8E276-5F66-B959-6D8D-2D41BA5D96D2}"/>
              </a:ext>
            </a:extLst>
          </p:cNvPr>
          <p:cNvCxnSpPr>
            <a:cxnSpLocks/>
          </p:cNvCxnSpPr>
          <p:nvPr/>
        </p:nvCxnSpPr>
        <p:spPr>
          <a:xfrm>
            <a:off x="2115977" y="4623285"/>
            <a:ext cx="1847545" cy="0"/>
          </a:xfrm>
          <a:prstGeom prst="line">
            <a:avLst/>
          </a:prstGeom>
          <a:ln w="28575">
            <a:gradFill>
              <a:gsLst>
                <a:gs pos="0">
                  <a:srgbClr val="FF0000"/>
                </a:gs>
                <a:gs pos="25000">
                  <a:srgbClr val="FFFF00"/>
                </a:gs>
                <a:gs pos="50000">
                  <a:srgbClr val="00FA00"/>
                </a:gs>
                <a:gs pos="100000">
                  <a:srgbClr val="0432FF"/>
                </a:gs>
                <a:gs pos="75000">
                  <a:srgbClr val="00FDFF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B0EB478-A678-BC72-ADAC-A0DC941E6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1017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6040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Assembly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55" y="1262507"/>
            <a:ext cx="8991600" cy="361152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 Reference-guided assembly</a:t>
            </a:r>
          </a:p>
          <a:p>
            <a:pPr lvl="1"/>
            <a:r>
              <a:rPr lang="en-US" dirty="0"/>
              <a:t>Mapping reads to a reference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Infer consensus</a:t>
            </a:r>
          </a:p>
          <a:p>
            <a:pPr lvl="1"/>
            <a:endParaRPr lang="en-US" dirty="0"/>
          </a:p>
          <a:p>
            <a:pPr lvl="1"/>
            <a:endParaRPr lang="en-US" i="1" dirty="0"/>
          </a:p>
          <a:p>
            <a:pPr lvl="1"/>
            <a:endParaRPr lang="en-US" i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6F0612-9BE8-CAB9-8C0B-46099DB7DA3E}"/>
              </a:ext>
            </a:extLst>
          </p:cNvPr>
          <p:cNvGrpSpPr/>
          <p:nvPr/>
        </p:nvGrpSpPr>
        <p:grpSpPr>
          <a:xfrm>
            <a:off x="1555531" y="2530534"/>
            <a:ext cx="8127124" cy="1116786"/>
            <a:chOff x="1702676" y="1672241"/>
            <a:chExt cx="8776138" cy="1116786"/>
          </a:xfrm>
        </p:grpSpPr>
        <p:grpSp>
          <p:nvGrpSpPr>
            <p:cNvPr id="68" name="Group 81"/>
            <p:cNvGrpSpPr>
              <a:grpSpLocks/>
            </p:cNvGrpSpPr>
            <p:nvPr/>
          </p:nvGrpSpPr>
          <p:grpSpPr bwMode="auto">
            <a:xfrm>
              <a:off x="2209800" y="1932676"/>
              <a:ext cx="7924800" cy="243749"/>
              <a:chOff x="432" y="2208"/>
              <a:chExt cx="4992" cy="192"/>
            </a:xfrm>
          </p:grpSpPr>
          <p:sp>
            <p:nvSpPr>
              <p:cNvPr id="69" name="Line 18"/>
              <p:cNvSpPr>
                <a:spLocks noChangeShapeType="1"/>
              </p:cNvSpPr>
              <p:nvPr/>
            </p:nvSpPr>
            <p:spPr bwMode="auto">
              <a:xfrm>
                <a:off x="4848" y="230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Line 21"/>
              <p:cNvSpPr>
                <a:spLocks noChangeShapeType="1"/>
              </p:cNvSpPr>
              <p:nvPr/>
            </p:nvSpPr>
            <p:spPr bwMode="auto">
              <a:xfrm>
                <a:off x="2208" y="240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Line 24"/>
              <p:cNvSpPr>
                <a:spLocks noChangeShapeType="1"/>
              </p:cNvSpPr>
              <p:nvPr/>
            </p:nvSpPr>
            <p:spPr bwMode="auto">
              <a:xfrm>
                <a:off x="528" y="240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Line 25"/>
              <p:cNvSpPr>
                <a:spLocks noChangeShapeType="1"/>
              </p:cNvSpPr>
              <p:nvPr/>
            </p:nvSpPr>
            <p:spPr bwMode="auto">
              <a:xfrm>
                <a:off x="3552" y="230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Line 28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Line 30"/>
              <p:cNvSpPr>
                <a:spLocks noChangeShapeType="1"/>
              </p:cNvSpPr>
              <p:nvPr/>
            </p:nvSpPr>
            <p:spPr bwMode="auto">
              <a:xfrm>
                <a:off x="4656" y="240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Line 31"/>
              <p:cNvSpPr>
                <a:spLocks noChangeShapeType="1"/>
              </p:cNvSpPr>
              <p:nvPr/>
            </p:nvSpPr>
            <p:spPr bwMode="auto">
              <a:xfrm>
                <a:off x="2496" y="220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Line 32"/>
              <p:cNvSpPr>
                <a:spLocks noChangeShapeType="1"/>
              </p:cNvSpPr>
              <p:nvPr/>
            </p:nvSpPr>
            <p:spPr bwMode="auto">
              <a:xfrm>
                <a:off x="3168" y="220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Line 33"/>
              <p:cNvSpPr>
                <a:spLocks noChangeShapeType="1"/>
              </p:cNvSpPr>
              <p:nvPr/>
            </p:nvSpPr>
            <p:spPr bwMode="auto">
              <a:xfrm>
                <a:off x="3888" y="220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Line 34"/>
              <p:cNvSpPr>
                <a:spLocks noChangeShapeType="1"/>
              </p:cNvSpPr>
              <p:nvPr/>
            </p:nvSpPr>
            <p:spPr bwMode="auto">
              <a:xfrm>
                <a:off x="432" y="220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Line 38"/>
              <p:cNvSpPr>
                <a:spLocks noChangeShapeType="1"/>
              </p:cNvSpPr>
              <p:nvPr/>
            </p:nvSpPr>
            <p:spPr bwMode="auto">
              <a:xfrm>
                <a:off x="480" y="230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80" name="Line 39"/>
              <p:cNvSpPr>
                <a:spLocks noChangeShapeType="1"/>
              </p:cNvSpPr>
              <p:nvPr/>
            </p:nvSpPr>
            <p:spPr bwMode="auto">
              <a:xfrm>
                <a:off x="3312" y="240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Line 42"/>
              <p:cNvSpPr>
                <a:spLocks noChangeShapeType="1"/>
              </p:cNvSpPr>
              <p:nvPr/>
            </p:nvSpPr>
            <p:spPr bwMode="auto">
              <a:xfrm>
                <a:off x="3936" y="240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Line 44"/>
              <p:cNvSpPr>
                <a:spLocks noChangeShapeType="1"/>
              </p:cNvSpPr>
              <p:nvPr/>
            </p:nvSpPr>
            <p:spPr bwMode="auto">
              <a:xfrm>
                <a:off x="4800" y="220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89" name="Group 110"/>
            <p:cNvGrpSpPr>
              <a:grpSpLocks/>
            </p:cNvGrpSpPr>
            <p:nvPr/>
          </p:nvGrpSpPr>
          <p:grpSpPr bwMode="auto">
            <a:xfrm>
              <a:off x="2209800" y="2423403"/>
              <a:ext cx="7924800" cy="365624"/>
              <a:chOff x="432" y="2736"/>
              <a:chExt cx="4992" cy="288"/>
            </a:xfrm>
          </p:grpSpPr>
          <p:sp>
            <p:nvSpPr>
              <p:cNvPr id="90" name="Line 83"/>
              <p:cNvSpPr>
                <a:spLocks noChangeShapeType="1"/>
              </p:cNvSpPr>
              <p:nvPr/>
            </p:nvSpPr>
            <p:spPr bwMode="auto">
              <a:xfrm>
                <a:off x="4848" y="2832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91" name="Line 84"/>
              <p:cNvSpPr>
                <a:spLocks noChangeShapeType="1"/>
              </p:cNvSpPr>
              <p:nvPr/>
            </p:nvSpPr>
            <p:spPr bwMode="auto">
              <a:xfrm>
                <a:off x="4176" y="302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92" name="Line 85"/>
              <p:cNvSpPr>
                <a:spLocks noChangeShapeType="1"/>
              </p:cNvSpPr>
              <p:nvPr/>
            </p:nvSpPr>
            <p:spPr bwMode="auto">
              <a:xfrm>
                <a:off x="1920" y="302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93" name="Line 87"/>
              <p:cNvSpPr>
                <a:spLocks noChangeShapeType="1"/>
              </p:cNvSpPr>
              <p:nvPr/>
            </p:nvSpPr>
            <p:spPr bwMode="auto">
              <a:xfrm>
                <a:off x="1536" y="292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94" name="Line 88"/>
              <p:cNvSpPr>
                <a:spLocks noChangeShapeType="1"/>
              </p:cNvSpPr>
              <p:nvPr/>
            </p:nvSpPr>
            <p:spPr bwMode="auto">
              <a:xfrm>
                <a:off x="432" y="302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95" name="Line 91"/>
              <p:cNvSpPr>
                <a:spLocks noChangeShapeType="1"/>
              </p:cNvSpPr>
              <p:nvPr/>
            </p:nvSpPr>
            <p:spPr bwMode="auto">
              <a:xfrm>
                <a:off x="3504" y="302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96" name="Line 92"/>
              <p:cNvSpPr>
                <a:spLocks noChangeShapeType="1"/>
              </p:cNvSpPr>
              <p:nvPr/>
            </p:nvSpPr>
            <p:spPr bwMode="auto">
              <a:xfrm>
                <a:off x="4224" y="2832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97" name="Line 93"/>
              <p:cNvSpPr>
                <a:spLocks noChangeShapeType="1"/>
              </p:cNvSpPr>
              <p:nvPr/>
            </p:nvSpPr>
            <p:spPr bwMode="auto">
              <a:xfrm>
                <a:off x="2160" y="2832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98" name="Line 94"/>
              <p:cNvSpPr>
                <a:spLocks noChangeShapeType="1"/>
              </p:cNvSpPr>
              <p:nvPr/>
            </p:nvSpPr>
            <p:spPr bwMode="auto">
              <a:xfrm>
                <a:off x="1200" y="2832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99" name="Line 96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00" name="Line 98"/>
              <p:cNvSpPr>
                <a:spLocks noChangeShapeType="1"/>
              </p:cNvSpPr>
              <p:nvPr/>
            </p:nvSpPr>
            <p:spPr bwMode="auto">
              <a:xfrm>
                <a:off x="3888" y="2736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01" name="Line 100"/>
              <p:cNvSpPr>
                <a:spLocks noChangeShapeType="1"/>
              </p:cNvSpPr>
              <p:nvPr/>
            </p:nvSpPr>
            <p:spPr bwMode="auto">
              <a:xfrm>
                <a:off x="2640" y="302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02" name="Line 101"/>
              <p:cNvSpPr>
                <a:spLocks noChangeShapeType="1"/>
              </p:cNvSpPr>
              <p:nvPr/>
            </p:nvSpPr>
            <p:spPr bwMode="auto">
              <a:xfrm>
                <a:off x="1776" y="2736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03" name="Line 102"/>
              <p:cNvSpPr>
                <a:spLocks noChangeShapeType="1"/>
              </p:cNvSpPr>
              <p:nvPr/>
            </p:nvSpPr>
            <p:spPr bwMode="auto">
              <a:xfrm>
                <a:off x="2832" y="2832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04" name="Line 103"/>
              <p:cNvSpPr>
                <a:spLocks noChangeShapeType="1"/>
              </p:cNvSpPr>
              <p:nvPr/>
            </p:nvSpPr>
            <p:spPr bwMode="auto">
              <a:xfrm>
                <a:off x="480" y="2832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05" name="Line 104"/>
              <p:cNvSpPr>
                <a:spLocks noChangeShapeType="1"/>
              </p:cNvSpPr>
              <p:nvPr/>
            </p:nvSpPr>
            <p:spPr bwMode="auto">
              <a:xfrm>
                <a:off x="3312" y="292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06" name="Line 105"/>
              <p:cNvSpPr>
                <a:spLocks noChangeShapeType="1"/>
              </p:cNvSpPr>
              <p:nvPr/>
            </p:nvSpPr>
            <p:spPr bwMode="auto">
              <a:xfrm>
                <a:off x="1056" y="2736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07" name="Line 106"/>
              <p:cNvSpPr>
                <a:spLocks noChangeShapeType="1"/>
              </p:cNvSpPr>
              <p:nvPr/>
            </p:nvSpPr>
            <p:spPr bwMode="auto">
              <a:xfrm>
                <a:off x="1152" y="302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08" name="Line 107"/>
              <p:cNvSpPr>
                <a:spLocks noChangeShapeType="1"/>
              </p:cNvSpPr>
              <p:nvPr/>
            </p:nvSpPr>
            <p:spPr bwMode="auto">
              <a:xfrm>
                <a:off x="3936" y="292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09" name="Line 108"/>
              <p:cNvSpPr>
                <a:spLocks noChangeShapeType="1"/>
              </p:cNvSpPr>
              <p:nvPr/>
            </p:nvSpPr>
            <p:spPr bwMode="auto">
              <a:xfrm>
                <a:off x="4800" y="302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10" name="Group 81"/>
            <p:cNvGrpSpPr>
              <a:grpSpLocks/>
            </p:cNvGrpSpPr>
            <p:nvPr/>
          </p:nvGrpSpPr>
          <p:grpSpPr bwMode="auto">
            <a:xfrm>
              <a:off x="2209800" y="2423404"/>
              <a:ext cx="7924800" cy="243749"/>
              <a:chOff x="432" y="2208"/>
              <a:chExt cx="4992" cy="192"/>
            </a:xfrm>
          </p:grpSpPr>
          <p:sp>
            <p:nvSpPr>
              <p:cNvPr id="111" name="Line 18"/>
              <p:cNvSpPr>
                <a:spLocks noChangeShapeType="1"/>
              </p:cNvSpPr>
              <p:nvPr/>
            </p:nvSpPr>
            <p:spPr bwMode="auto">
              <a:xfrm>
                <a:off x="4848" y="230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12" name="Line 21"/>
              <p:cNvSpPr>
                <a:spLocks noChangeShapeType="1"/>
              </p:cNvSpPr>
              <p:nvPr/>
            </p:nvSpPr>
            <p:spPr bwMode="auto">
              <a:xfrm>
                <a:off x="2208" y="240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13" name="Line 24"/>
              <p:cNvSpPr>
                <a:spLocks noChangeShapeType="1"/>
              </p:cNvSpPr>
              <p:nvPr/>
            </p:nvSpPr>
            <p:spPr bwMode="auto">
              <a:xfrm>
                <a:off x="528" y="240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14" name="Line 25"/>
              <p:cNvSpPr>
                <a:spLocks noChangeShapeType="1"/>
              </p:cNvSpPr>
              <p:nvPr/>
            </p:nvSpPr>
            <p:spPr bwMode="auto">
              <a:xfrm>
                <a:off x="3552" y="230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15" name="Line 28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16" name="Line 30"/>
              <p:cNvSpPr>
                <a:spLocks noChangeShapeType="1"/>
              </p:cNvSpPr>
              <p:nvPr/>
            </p:nvSpPr>
            <p:spPr bwMode="auto">
              <a:xfrm>
                <a:off x="4656" y="240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17" name="Line 31"/>
              <p:cNvSpPr>
                <a:spLocks noChangeShapeType="1"/>
              </p:cNvSpPr>
              <p:nvPr/>
            </p:nvSpPr>
            <p:spPr bwMode="auto">
              <a:xfrm>
                <a:off x="2496" y="220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18" name="Line 32"/>
              <p:cNvSpPr>
                <a:spLocks noChangeShapeType="1"/>
              </p:cNvSpPr>
              <p:nvPr/>
            </p:nvSpPr>
            <p:spPr bwMode="auto">
              <a:xfrm>
                <a:off x="3168" y="220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19" name="Line 33"/>
              <p:cNvSpPr>
                <a:spLocks noChangeShapeType="1"/>
              </p:cNvSpPr>
              <p:nvPr/>
            </p:nvSpPr>
            <p:spPr bwMode="auto">
              <a:xfrm>
                <a:off x="3888" y="220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20" name="Line 34"/>
              <p:cNvSpPr>
                <a:spLocks noChangeShapeType="1"/>
              </p:cNvSpPr>
              <p:nvPr/>
            </p:nvSpPr>
            <p:spPr bwMode="auto">
              <a:xfrm>
                <a:off x="432" y="220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21" name="Line 38"/>
              <p:cNvSpPr>
                <a:spLocks noChangeShapeType="1"/>
              </p:cNvSpPr>
              <p:nvPr/>
            </p:nvSpPr>
            <p:spPr bwMode="auto">
              <a:xfrm>
                <a:off x="480" y="230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22" name="Line 39"/>
              <p:cNvSpPr>
                <a:spLocks noChangeShapeType="1"/>
              </p:cNvSpPr>
              <p:nvPr/>
            </p:nvSpPr>
            <p:spPr bwMode="auto">
              <a:xfrm>
                <a:off x="3312" y="240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23" name="Line 42"/>
              <p:cNvSpPr>
                <a:spLocks noChangeShapeType="1"/>
              </p:cNvSpPr>
              <p:nvPr/>
            </p:nvSpPr>
            <p:spPr bwMode="auto">
              <a:xfrm>
                <a:off x="3936" y="240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24" name="Line 44"/>
              <p:cNvSpPr>
                <a:spLocks noChangeShapeType="1"/>
              </p:cNvSpPr>
              <p:nvPr/>
            </p:nvSpPr>
            <p:spPr bwMode="auto">
              <a:xfrm>
                <a:off x="4800" y="220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</p:grp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610ACCE-53B6-9E4C-B811-DC68530A29E4}"/>
                </a:ext>
              </a:extLst>
            </p:cNvPr>
            <p:cNvCxnSpPr>
              <a:cxnSpLocks/>
            </p:cNvCxnSpPr>
            <p:nvPr/>
          </p:nvCxnSpPr>
          <p:spPr>
            <a:xfrm>
              <a:off x="1702676" y="1672241"/>
              <a:ext cx="8776138" cy="0"/>
            </a:xfrm>
            <a:prstGeom prst="line">
              <a:avLst/>
            </a:prstGeom>
            <a:ln w="28575">
              <a:gradFill>
                <a:gsLst>
                  <a:gs pos="0">
                    <a:srgbClr val="FF0000"/>
                  </a:gs>
                  <a:gs pos="25000">
                    <a:srgbClr val="FFFF00"/>
                  </a:gs>
                  <a:gs pos="50000">
                    <a:srgbClr val="00FA00"/>
                  </a:gs>
                  <a:gs pos="100000">
                    <a:srgbClr val="0432FF"/>
                  </a:gs>
                  <a:gs pos="75000">
                    <a:srgbClr val="00FDFF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5C75511-DB30-08AA-C1AB-57DF92216D27}"/>
              </a:ext>
            </a:extLst>
          </p:cNvPr>
          <p:cNvSpPr txBox="1"/>
          <p:nvPr/>
        </p:nvSpPr>
        <p:spPr>
          <a:xfrm>
            <a:off x="9775372" y="2226092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 genome</a:t>
            </a:r>
            <a:endParaRPr lang="nl-NL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C17205C-36F9-CB05-BC54-F4E9B55922E4}"/>
              </a:ext>
            </a:extLst>
          </p:cNvPr>
          <p:cNvSpPr txBox="1"/>
          <p:nvPr/>
        </p:nvSpPr>
        <p:spPr>
          <a:xfrm>
            <a:off x="9787285" y="3003118"/>
            <a:ext cx="1671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Reads</a:t>
            </a:r>
            <a:endParaRPr lang="nl-NL" dirty="0"/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A92C0F5-6A79-9984-7A92-69E47974BC8A}"/>
              </a:ext>
            </a:extLst>
          </p:cNvPr>
          <p:cNvGrpSpPr/>
          <p:nvPr/>
        </p:nvGrpSpPr>
        <p:grpSpPr>
          <a:xfrm>
            <a:off x="1707931" y="4572698"/>
            <a:ext cx="9693567" cy="1325794"/>
            <a:chOff x="1707931" y="4572698"/>
            <a:chExt cx="9693567" cy="13257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1C730FE-7DBC-E5E1-A87C-68632783B625}"/>
                </a:ext>
              </a:extLst>
            </p:cNvPr>
            <p:cNvGrpSpPr/>
            <p:nvPr/>
          </p:nvGrpSpPr>
          <p:grpSpPr>
            <a:xfrm>
              <a:off x="1707931" y="4572698"/>
              <a:ext cx="7974724" cy="1325794"/>
              <a:chOff x="1702676" y="1463233"/>
              <a:chExt cx="8776138" cy="1325794"/>
            </a:xfrm>
          </p:grpSpPr>
          <p:grpSp>
            <p:nvGrpSpPr>
              <p:cNvPr id="12" name="Group 81">
                <a:extLst>
                  <a:ext uri="{FF2B5EF4-FFF2-40B4-BE49-F238E27FC236}">
                    <a16:creationId xmlns:a16="http://schemas.microsoft.com/office/drawing/2014/main" id="{3961021B-F04D-C2D3-549D-8E49A1898B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9800" y="1932676"/>
                <a:ext cx="7924800" cy="243749"/>
                <a:chOff x="432" y="2208"/>
                <a:chExt cx="4992" cy="192"/>
              </a:xfrm>
            </p:grpSpPr>
            <p:sp>
              <p:nvSpPr>
                <p:cNvPr id="149" name="Line 18">
                  <a:extLst>
                    <a:ext uri="{FF2B5EF4-FFF2-40B4-BE49-F238E27FC236}">
                      <a16:creationId xmlns:a16="http://schemas.microsoft.com/office/drawing/2014/main" id="{325FBB20-5EE8-B4BA-0A05-13EF0952F7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0" name="Line 21">
                  <a:extLst>
                    <a:ext uri="{FF2B5EF4-FFF2-40B4-BE49-F238E27FC236}">
                      <a16:creationId xmlns:a16="http://schemas.microsoft.com/office/drawing/2014/main" id="{73C5E5DA-FC46-657E-9243-149FB09183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1" name="Line 24">
                  <a:extLst>
                    <a:ext uri="{FF2B5EF4-FFF2-40B4-BE49-F238E27FC236}">
                      <a16:creationId xmlns:a16="http://schemas.microsoft.com/office/drawing/2014/main" id="{8146EC6D-1B5A-C618-5838-1B3E169E40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2" name="Line 25">
                  <a:extLst>
                    <a:ext uri="{FF2B5EF4-FFF2-40B4-BE49-F238E27FC236}">
                      <a16:creationId xmlns:a16="http://schemas.microsoft.com/office/drawing/2014/main" id="{C42E0FAF-5B98-429C-8CE5-B8BA2A652D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2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3" name="Line 28">
                  <a:extLst>
                    <a:ext uri="{FF2B5EF4-FFF2-40B4-BE49-F238E27FC236}">
                      <a16:creationId xmlns:a16="http://schemas.microsoft.com/office/drawing/2014/main" id="{C99CD5AC-B5F6-087F-1833-E12F31B63D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0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4" name="Line 30">
                  <a:extLst>
                    <a:ext uri="{FF2B5EF4-FFF2-40B4-BE49-F238E27FC236}">
                      <a16:creationId xmlns:a16="http://schemas.microsoft.com/office/drawing/2014/main" id="{3315AAFF-5B1B-89A5-4285-CFC83DD604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6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5" name="Line 31">
                  <a:extLst>
                    <a:ext uri="{FF2B5EF4-FFF2-40B4-BE49-F238E27FC236}">
                      <a16:creationId xmlns:a16="http://schemas.microsoft.com/office/drawing/2014/main" id="{27C0538E-1A72-F661-65A2-12EC78D68B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96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6" name="Line 32">
                  <a:extLst>
                    <a:ext uri="{FF2B5EF4-FFF2-40B4-BE49-F238E27FC236}">
                      <a16:creationId xmlns:a16="http://schemas.microsoft.com/office/drawing/2014/main" id="{04978BDA-76FF-8968-DD1C-45F42129F2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8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7" name="Line 33">
                  <a:extLst>
                    <a:ext uri="{FF2B5EF4-FFF2-40B4-BE49-F238E27FC236}">
                      <a16:creationId xmlns:a16="http://schemas.microsoft.com/office/drawing/2014/main" id="{EEFC1236-9699-447F-1892-F75358019A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8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8" name="Line 34">
                  <a:extLst>
                    <a:ext uri="{FF2B5EF4-FFF2-40B4-BE49-F238E27FC236}">
                      <a16:creationId xmlns:a16="http://schemas.microsoft.com/office/drawing/2014/main" id="{33631205-4CCA-95AB-C272-308DEC86B5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9" name="Line 38">
                  <a:extLst>
                    <a:ext uri="{FF2B5EF4-FFF2-40B4-BE49-F238E27FC236}">
                      <a16:creationId xmlns:a16="http://schemas.microsoft.com/office/drawing/2014/main" id="{479A3D73-55D1-3E1D-2CBC-EF61767734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60" name="Line 39">
                  <a:extLst>
                    <a:ext uri="{FF2B5EF4-FFF2-40B4-BE49-F238E27FC236}">
                      <a16:creationId xmlns:a16="http://schemas.microsoft.com/office/drawing/2014/main" id="{67662E4C-1298-0F42-EF96-65C367E2D0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2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61" name="Line 42">
                  <a:extLst>
                    <a:ext uri="{FF2B5EF4-FFF2-40B4-BE49-F238E27FC236}">
                      <a16:creationId xmlns:a16="http://schemas.microsoft.com/office/drawing/2014/main" id="{55881106-E319-3C9C-DD22-76841C4D0C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6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62" name="Line 44">
                  <a:extLst>
                    <a:ext uri="{FF2B5EF4-FFF2-40B4-BE49-F238E27FC236}">
                      <a16:creationId xmlns:a16="http://schemas.microsoft.com/office/drawing/2014/main" id="{AB47FC83-B8A2-A95D-9781-A446C7A4F2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0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5" name="Group 110">
                <a:extLst>
                  <a:ext uri="{FF2B5EF4-FFF2-40B4-BE49-F238E27FC236}">
                    <a16:creationId xmlns:a16="http://schemas.microsoft.com/office/drawing/2014/main" id="{169DB02B-1F7E-90F8-37BC-8180B25B7E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9800" y="2423403"/>
                <a:ext cx="7924800" cy="365624"/>
                <a:chOff x="432" y="2736"/>
                <a:chExt cx="4992" cy="288"/>
              </a:xfrm>
            </p:grpSpPr>
            <p:sp>
              <p:nvSpPr>
                <p:cNvPr id="126" name="Line 83">
                  <a:extLst>
                    <a:ext uri="{FF2B5EF4-FFF2-40B4-BE49-F238E27FC236}">
                      <a16:creationId xmlns:a16="http://schemas.microsoft.com/office/drawing/2014/main" id="{8CA97512-4F9A-89F6-AEC4-EA99E5AEC5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2832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29" name="Line 84">
                  <a:extLst>
                    <a:ext uri="{FF2B5EF4-FFF2-40B4-BE49-F238E27FC236}">
                      <a16:creationId xmlns:a16="http://schemas.microsoft.com/office/drawing/2014/main" id="{B753F6A6-8389-19AB-F7AE-327D2240C4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302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0" name="Line 85">
                  <a:extLst>
                    <a:ext uri="{FF2B5EF4-FFF2-40B4-BE49-F238E27FC236}">
                      <a16:creationId xmlns:a16="http://schemas.microsoft.com/office/drawing/2014/main" id="{10166409-839E-A2AD-EB06-9AEC6EBD8E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0" y="302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1" name="Line 87">
                  <a:extLst>
                    <a:ext uri="{FF2B5EF4-FFF2-40B4-BE49-F238E27FC236}">
                      <a16:creationId xmlns:a16="http://schemas.microsoft.com/office/drawing/2014/main" id="{75716138-8C24-D8E4-0B2B-F5B24D7802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92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3" name="Line 88">
                  <a:extLst>
                    <a:ext uri="{FF2B5EF4-FFF2-40B4-BE49-F238E27FC236}">
                      <a16:creationId xmlns:a16="http://schemas.microsoft.com/office/drawing/2014/main" id="{2CBCCC9B-6692-30C7-FCC1-F5FA04CE40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302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4" name="Line 91">
                  <a:extLst>
                    <a:ext uri="{FF2B5EF4-FFF2-40B4-BE49-F238E27FC236}">
                      <a16:creationId xmlns:a16="http://schemas.microsoft.com/office/drawing/2014/main" id="{39C79CF4-4091-7A8A-1C81-D34A303449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302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5" name="Line 92">
                  <a:extLst>
                    <a:ext uri="{FF2B5EF4-FFF2-40B4-BE49-F238E27FC236}">
                      <a16:creationId xmlns:a16="http://schemas.microsoft.com/office/drawing/2014/main" id="{F158CCC2-C86B-3A94-9418-F698EBF865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4" y="2832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6" name="Line 93">
                  <a:extLst>
                    <a:ext uri="{FF2B5EF4-FFF2-40B4-BE49-F238E27FC236}">
                      <a16:creationId xmlns:a16="http://schemas.microsoft.com/office/drawing/2014/main" id="{E2E58116-9F6C-D3AE-D05B-8D6E3200D8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0" y="2832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7" name="Line 94">
                  <a:extLst>
                    <a:ext uri="{FF2B5EF4-FFF2-40B4-BE49-F238E27FC236}">
                      <a16:creationId xmlns:a16="http://schemas.microsoft.com/office/drawing/2014/main" id="{48E740DB-D8B8-561B-EAAE-47B2CA413A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2832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8" name="Line 96">
                  <a:extLst>
                    <a:ext uri="{FF2B5EF4-FFF2-40B4-BE49-F238E27FC236}">
                      <a16:creationId xmlns:a16="http://schemas.microsoft.com/office/drawing/2014/main" id="{30EDB885-A67A-80D9-7C1A-5D87DE83E4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96" y="2736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9" name="Line 98">
                  <a:extLst>
                    <a:ext uri="{FF2B5EF4-FFF2-40B4-BE49-F238E27FC236}">
                      <a16:creationId xmlns:a16="http://schemas.microsoft.com/office/drawing/2014/main" id="{4D789C88-010B-74A5-E9CE-6B8518374C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8" y="2736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0" name="Line 100">
                  <a:extLst>
                    <a:ext uri="{FF2B5EF4-FFF2-40B4-BE49-F238E27FC236}">
                      <a16:creationId xmlns:a16="http://schemas.microsoft.com/office/drawing/2014/main" id="{A9E63071-325B-076D-AD7D-892B51C036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40" y="302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1" name="Line 101">
                  <a:extLst>
                    <a:ext uri="{FF2B5EF4-FFF2-40B4-BE49-F238E27FC236}">
                      <a16:creationId xmlns:a16="http://schemas.microsoft.com/office/drawing/2014/main" id="{2CE9CD9F-57D3-12D4-FF1C-630FF29E53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736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2" name="Line 102">
                  <a:extLst>
                    <a:ext uri="{FF2B5EF4-FFF2-40B4-BE49-F238E27FC236}">
                      <a16:creationId xmlns:a16="http://schemas.microsoft.com/office/drawing/2014/main" id="{4D955F98-180D-6F33-BF63-5F45CC72F8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2832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3" name="Line 103">
                  <a:extLst>
                    <a:ext uri="{FF2B5EF4-FFF2-40B4-BE49-F238E27FC236}">
                      <a16:creationId xmlns:a16="http://schemas.microsoft.com/office/drawing/2014/main" id="{FD993397-714B-9E8C-3DE5-06FA6CDF88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832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4" name="Line 104">
                  <a:extLst>
                    <a:ext uri="{FF2B5EF4-FFF2-40B4-BE49-F238E27FC236}">
                      <a16:creationId xmlns:a16="http://schemas.microsoft.com/office/drawing/2014/main" id="{D0F6F1E9-C612-2FE7-71D7-61DCA37800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2" y="292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5" name="Line 105">
                  <a:extLst>
                    <a:ext uri="{FF2B5EF4-FFF2-40B4-BE49-F238E27FC236}">
                      <a16:creationId xmlns:a16="http://schemas.microsoft.com/office/drawing/2014/main" id="{ABC05F3C-7AC8-6ADB-8C3C-FF65F4BFA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2736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6" name="Line 106">
                  <a:extLst>
                    <a:ext uri="{FF2B5EF4-FFF2-40B4-BE49-F238E27FC236}">
                      <a16:creationId xmlns:a16="http://schemas.microsoft.com/office/drawing/2014/main" id="{178F4A3A-1D34-0A4B-4B47-677DE24961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2" y="302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7" name="Line 107">
                  <a:extLst>
                    <a:ext uri="{FF2B5EF4-FFF2-40B4-BE49-F238E27FC236}">
                      <a16:creationId xmlns:a16="http://schemas.microsoft.com/office/drawing/2014/main" id="{B1C58488-1F9B-41AE-B070-9CCAFB4EF5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6" y="292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8" name="Line 108">
                  <a:extLst>
                    <a:ext uri="{FF2B5EF4-FFF2-40B4-BE49-F238E27FC236}">
                      <a16:creationId xmlns:a16="http://schemas.microsoft.com/office/drawing/2014/main" id="{834CFAA4-B881-05E4-703B-40C1246D3C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0" y="302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6" name="Group 81">
                <a:extLst>
                  <a:ext uri="{FF2B5EF4-FFF2-40B4-BE49-F238E27FC236}">
                    <a16:creationId xmlns:a16="http://schemas.microsoft.com/office/drawing/2014/main" id="{A6BCD7AB-4280-AEBA-FF03-36A5AE741B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9800" y="2423404"/>
                <a:ext cx="7924800" cy="243749"/>
                <a:chOff x="432" y="2208"/>
                <a:chExt cx="4992" cy="192"/>
              </a:xfrm>
            </p:grpSpPr>
            <p:sp>
              <p:nvSpPr>
                <p:cNvPr id="23" name="Line 18">
                  <a:extLst>
                    <a:ext uri="{FF2B5EF4-FFF2-40B4-BE49-F238E27FC236}">
                      <a16:creationId xmlns:a16="http://schemas.microsoft.com/office/drawing/2014/main" id="{69B5192B-3488-4BE9-60A2-5811D2FEF6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4" name="Line 21">
                  <a:extLst>
                    <a:ext uri="{FF2B5EF4-FFF2-40B4-BE49-F238E27FC236}">
                      <a16:creationId xmlns:a16="http://schemas.microsoft.com/office/drawing/2014/main" id="{DD3648AC-2E74-0C49-6E40-67A513D851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5" name="Line 24">
                  <a:extLst>
                    <a:ext uri="{FF2B5EF4-FFF2-40B4-BE49-F238E27FC236}">
                      <a16:creationId xmlns:a16="http://schemas.microsoft.com/office/drawing/2014/main" id="{56EF162B-8DBC-9AF5-A1B4-EE8F8F5280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6" name="Line 25">
                  <a:extLst>
                    <a:ext uri="{FF2B5EF4-FFF2-40B4-BE49-F238E27FC236}">
                      <a16:creationId xmlns:a16="http://schemas.microsoft.com/office/drawing/2014/main" id="{3DCF32DB-8548-6601-A39E-15A376769E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2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7" name="Line 28">
                  <a:extLst>
                    <a:ext uri="{FF2B5EF4-FFF2-40B4-BE49-F238E27FC236}">
                      <a16:creationId xmlns:a16="http://schemas.microsoft.com/office/drawing/2014/main" id="{A8238FD9-5E48-111D-7A23-2630550A03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0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8" name="Line 30">
                  <a:extLst>
                    <a:ext uri="{FF2B5EF4-FFF2-40B4-BE49-F238E27FC236}">
                      <a16:creationId xmlns:a16="http://schemas.microsoft.com/office/drawing/2014/main" id="{87FAA41F-C5A8-1E3D-3A85-99FFF1FC22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6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9" name="Line 31">
                  <a:extLst>
                    <a:ext uri="{FF2B5EF4-FFF2-40B4-BE49-F238E27FC236}">
                      <a16:creationId xmlns:a16="http://schemas.microsoft.com/office/drawing/2014/main" id="{03AA6924-E090-2F79-033F-2886A6FDF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96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0" name="Line 32">
                  <a:extLst>
                    <a:ext uri="{FF2B5EF4-FFF2-40B4-BE49-F238E27FC236}">
                      <a16:creationId xmlns:a16="http://schemas.microsoft.com/office/drawing/2014/main" id="{8507AA6C-9D81-D669-F6A8-0EDF62E06A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8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1" name="Line 33">
                  <a:extLst>
                    <a:ext uri="{FF2B5EF4-FFF2-40B4-BE49-F238E27FC236}">
                      <a16:creationId xmlns:a16="http://schemas.microsoft.com/office/drawing/2014/main" id="{66C1EBCF-0EC5-B5FB-B265-16485F4DF5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8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4" name="Line 34">
                  <a:extLst>
                    <a:ext uri="{FF2B5EF4-FFF2-40B4-BE49-F238E27FC236}">
                      <a16:creationId xmlns:a16="http://schemas.microsoft.com/office/drawing/2014/main" id="{579EEE44-1419-4993-BDE5-FA4F14BD16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5" name="Line 38">
                  <a:extLst>
                    <a:ext uri="{FF2B5EF4-FFF2-40B4-BE49-F238E27FC236}">
                      <a16:creationId xmlns:a16="http://schemas.microsoft.com/office/drawing/2014/main" id="{02FB6F59-8692-FE69-D001-425A1171A1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6" name="Line 39">
                  <a:extLst>
                    <a:ext uri="{FF2B5EF4-FFF2-40B4-BE49-F238E27FC236}">
                      <a16:creationId xmlns:a16="http://schemas.microsoft.com/office/drawing/2014/main" id="{EF589D90-F5DD-EB51-E584-05153E3B45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2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7" name="Line 42">
                  <a:extLst>
                    <a:ext uri="{FF2B5EF4-FFF2-40B4-BE49-F238E27FC236}">
                      <a16:creationId xmlns:a16="http://schemas.microsoft.com/office/drawing/2014/main" id="{9BF5DE05-E792-A627-C88C-CEC3EF4A60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6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3" name="Line 44">
                  <a:extLst>
                    <a:ext uri="{FF2B5EF4-FFF2-40B4-BE49-F238E27FC236}">
                      <a16:creationId xmlns:a16="http://schemas.microsoft.com/office/drawing/2014/main" id="{A372D9D5-D41A-62A5-065C-029B7AB2ED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0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</p:grp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B2072C9-C602-A8C4-107B-EE258CD8FE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2676" y="1463233"/>
                <a:ext cx="8776138" cy="0"/>
              </a:xfrm>
              <a:prstGeom prst="line">
                <a:avLst/>
              </a:prstGeom>
              <a:ln w="28575">
                <a:gradFill>
                  <a:gsLst>
                    <a:gs pos="0">
                      <a:srgbClr val="FF0000"/>
                    </a:gs>
                    <a:gs pos="25000">
                      <a:srgbClr val="FFFF00"/>
                    </a:gs>
                    <a:gs pos="50000">
                      <a:srgbClr val="00FA00"/>
                    </a:gs>
                    <a:gs pos="100000">
                      <a:srgbClr val="0432FF"/>
                    </a:gs>
                    <a:gs pos="75000">
                      <a:srgbClr val="00FDFF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" name="Group 80">
                <a:extLst>
                  <a:ext uri="{FF2B5EF4-FFF2-40B4-BE49-F238E27FC236}">
                    <a16:creationId xmlns:a16="http://schemas.microsoft.com/office/drawing/2014/main" id="{B75E6E57-2789-42D9-722F-7416738D42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9800" y="1700586"/>
                <a:ext cx="7848600" cy="8714"/>
                <a:chOff x="432" y="-111393"/>
                <a:chExt cx="4944" cy="8714"/>
              </a:xfrm>
            </p:grpSpPr>
            <p:sp>
              <p:nvSpPr>
                <p:cNvPr id="19" name="Line 75">
                  <a:extLst>
                    <a:ext uri="{FF2B5EF4-FFF2-40B4-BE49-F238E27FC236}">
                      <a16:creationId xmlns:a16="http://schemas.microsoft.com/office/drawing/2014/main" id="{8F6A44DC-99C9-7916-9A36-8AE74A0F29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-111393"/>
                  <a:ext cx="1104" cy="0"/>
                </a:xfrm>
                <a:prstGeom prst="line">
                  <a:avLst/>
                </a:prstGeom>
                <a:noFill/>
                <a:ln w="127000">
                  <a:solidFill>
                    <a:schemeClr val="accent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" name="Line 76">
                  <a:extLst>
                    <a:ext uri="{FF2B5EF4-FFF2-40B4-BE49-F238E27FC236}">
                      <a16:creationId xmlns:a16="http://schemas.microsoft.com/office/drawing/2014/main" id="{FE4157A7-AAD8-1109-8C2F-CE00D46332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6" y="-102679"/>
                  <a:ext cx="720" cy="0"/>
                </a:xfrm>
                <a:prstGeom prst="line">
                  <a:avLst/>
                </a:prstGeom>
                <a:noFill/>
                <a:ln w="127000">
                  <a:solidFill>
                    <a:schemeClr val="accent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1" name="Line 77">
                  <a:extLst>
                    <a:ext uri="{FF2B5EF4-FFF2-40B4-BE49-F238E27FC236}">
                      <a16:creationId xmlns:a16="http://schemas.microsoft.com/office/drawing/2014/main" id="{6FD34BC0-5BD4-68F3-C4FF-C868AEFB9B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8" y="-102679"/>
                  <a:ext cx="1344" cy="0"/>
                </a:xfrm>
                <a:prstGeom prst="line">
                  <a:avLst/>
                </a:prstGeom>
                <a:noFill/>
                <a:ln w="127000">
                  <a:solidFill>
                    <a:schemeClr val="accent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2" name="Line 79">
                  <a:extLst>
                    <a:ext uri="{FF2B5EF4-FFF2-40B4-BE49-F238E27FC236}">
                      <a16:creationId xmlns:a16="http://schemas.microsoft.com/office/drawing/2014/main" id="{94B015E2-13E2-36DA-8D26-29B0089851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8" y="-111393"/>
                  <a:ext cx="1194" cy="8714"/>
                </a:xfrm>
                <a:prstGeom prst="line">
                  <a:avLst/>
                </a:prstGeom>
                <a:noFill/>
                <a:ln w="127000">
                  <a:solidFill>
                    <a:schemeClr val="accent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EE182621-1B51-5BD8-C8EB-0A198850F25B}"/>
                </a:ext>
              </a:extLst>
            </p:cNvPr>
            <p:cNvSpPr txBox="1"/>
            <p:nvPr/>
          </p:nvSpPr>
          <p:spPr>
            <a:xfrm>
              <a:off x="9836005" y="4634102"/>
              <a:ext cx="15654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Consensus sequence in contigs</a:t>
              </a:r>
              <a:endParaRPr lang="nl-NL" dirty="0"/>
            </a:p>
          </p:txBody>
        </p:sp>
      </p:grpSp>
    </p:spTree>
    <p:extLst>
      <p:ext uri="{BB962C8B-B14F-4D97-AF65-F5344CB8AC3E}">
        <p14:creationId xmlns:p14="http://schemas.microsoft.com/office/powerpoint/2010/main" val="406786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5500-E0A3-6417-4AC9-22D34687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2F231E-B002-A776-90E9-4CCEC946C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670" t="31294" r="27583" b="28716"/>
          <a:stretch/>
        </p:blipFill>
        <p:spPr>
          <a:xfrm>
            <a:off x="1376312" y="1527141"/>
            <a:ext cx="9579539" cy="4609707"/>
          </a:xfrm>
        </p:spPr>
      </p:pic>
    </p:spTree>
    <p:extLst>
      <p:ext uri="{BB962C8B-B14F-4D97-AF65-F5344CB8AC3E}">
        <p14:creationId xmlns:p14="http://schemas.microsoft.com/office/powerpoint/2010/main" val="3581508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/>
          <p:cNvSpPr/>
          <p:nvPr/>
        </p:nvSpPr>
        <p:spPr>
          <a:xfrm>
            <a:off x="2209800" y="812271"/>
            <a:ext cx="8001000" cy="99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6040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Assembly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55" y="1262507"/>
            <a:ext cx="10130916" cy="3611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i="1" dirty="0"/>
              <a:t>De novo</a:t>
            </a:r>
            <a:r>
              <a:rPr lang="en-US" dirty="0"/>
              <a:t> assembly</a:t>
            </a:r>
          </a:p>
          <a:p>
            <a:pPr lvl="1"/>
            <a:r>
              <a:rPr lang="en-US" dirty="0"/>
              <a:t>Construct genome sequence from overlap between reads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CA91522-960F-C388-0F91-16A6C8D30FD0}"/>
              </a:ext>
            </a:extLst>
          </p:cNvPr>
          <p:cNvGrpSpPr/>
          <p:nvPr/>
        </p:nvGrpSpPr>
        <p:grpSpPr>
          <a:xfrm>
            <a:off x="1798790" y="3040972"/>
            <a:ext cx="9232752" cy="1264390"/>
            <a:chOff x="2168746" y="4634102"/>
            <a:chExt cx="9232752" cy="126439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BA732AB-673F-8514-9B8E-93A1B95D58BF}"/>
                </a:ext>
              </a:extLst>
            </p:cNvPr>
            <p:cNvGrpSpPr/>
            <p:nvPr/>
          </p:nvGrpSpPr>
          <p:grpSpPr>
            <a:xfrm>
              <a:off x="2168746" y="4810051"/>
              <a:ext cx="7201128" cy="1088441"/>
              <a:chOff x="2209800" y="1700586"/>
              <a:chExt cx="7924800" cy="1088441"/>
            </a:xfrm>
          </p:grpSpPr>
          <p:grpSp>
            <p:nvGrpSpPr>
              <p:cNvPr id="17" name="Group 81">
                <a:extLst>
                  <a:ext uri="{FF2B5EF4-FFF2-40B4-BE49-F238E27FC236}">
                    <a16:creationId xmlns:a16="http://schemas.microsoft.com/office/drawing/2014/main" id="{E8205FA9-5284-BE25-8458-5E74A13615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9800" y="1932676"/>
                <a:ext cx="7924800" cy="243749"/>
                <a:chOff x="432" y="2208"/>
                <a:chExt cx="4992" cy="192"/>
              </a:xfrm>
            </p:grpSpPr>
            <p:sp>
              <p:nvSpPr>
                <p:cNvPr id="152" name="Line 18">
                  <a:extLst>
                    <a:ext uri="{FF2B5EF4-FFF2-40B4-BE49-F238E27FC236}">
                      <a16:creationId xmlns:a16="http://schemas.microsoft.com/office/drawing/2014/main" id="{43A964CD-75F8-674F-D90A-AE30B4096D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3" name="Line 21">
                  <a:extLst>
                    <a:ext uri="{FF2B5EF4-FFF2-40B4-BE49-F238E27FC236}">
                      <a16:creationId xmlns:a16="http://schemas.microsoft.com/office/drawing/2014/main" id="{1C540D32-00F2-397C-D9F5-017E8E30B6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4" name="Line 24">
                  <a:extLst>
                    <a:ext uri="{FF2B5EF4-FFF2-40B4-BE49-F238E27FC236}">
                      <a16:creationId xmlns:a16="http://schemas.microsoft.com/office/drawing/2014/main" id="{0CB2A999-62B8-B6D3-BE2C-D19C85995B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5" name="Line 25">
                  <a:extLst>
                    <a:ext uri="{FF2B5EF4-FFF2-40B4-BE49-F238E27FC236}">
                      <a16:creationId xmlns:a16="http://schemas.microsoft.com/office/drawing/2014/main" id="{0C0AB78B-D13B-2907-02D7-EF7AE2A4AD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2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6" name="Line 28">
                  <a:extLst>
                    <a:ext uri="{FF2B5EF4-FFF2-40B4-BE49-F238E27FC236}">
                      <a16:creationId xmlns:a16="http://schemas.microsoft.com/office/drawing/2014/main" id="{E09E0992-8DB6-11E0-5CFC-A4C5C593E5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0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7" name="Line 30">
                  <a:extLst>
                    <a:ext uri="{FF2B5EF4-FFF2-40B4-BE49-F238E27FC236}">
                      <a16:creationId xmlns:a16="http://schemas.microsoft.com/office/drawing/2014/main" id="{67C9512E-5DF0-8777-E2BE-A10822DEB0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6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8" name="Line 31">
                  <a:extLst>
                    <a:ext uri="{FF2B5EF4-FFF2-40B4-BE49-F238E27FC236}">
                      <a16:creationId xmlns:a16="http://schemas.microsoft.com/office/drawing/2014/main" id="{3BE6C430-A7CC-7438-2C0B-CFEF4A3263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96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9" name="Line 32">
                  <a:extLst>
                    <a:ext uri="{FF2B5EF4-FFF2-40B4-BE49-F238E27FC236}">
                      <a16:creationId xmlns:a16="http://schemas.microsoft.com/office/drawing/2014/main" id="{62D95466-59DB-96D5-C345-4E4CBCB407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8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60" name="Line 33">
                  <a:extLst>
                    <a:ext uri="{FF2B5EF4-FFF2-40B4-BE49-F238E27FC236}">
                      <a16:creationId xmlns:a16="http://schemas.microsoft.com/office/drawing/2014/main" id="{570A0987-A1EE-22C8-CD38-09DBB746AF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8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61" name="Line 34">
                  <a:extLst>
                    <a:ext uri="{FF2B5EF4-FFF2-40B4-BE49-F238E27FC236}">
                      <a16:creationId xmlns:a16="http://schemas.microsoft.com/office/drawing/2014/main" id="{7413A82C-8796-7860-949B-B61F037719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62" name="Line 38">
                  <a:extLst>
                    <a:ext uri="{FF2B5EF4-FFF2-40B4-BE49-F238E27FC236}">
                      <a16:creationId xmlns:a16="http://schemas.microsoft.com/office/drawing/2014/main" id="{FF0FF256-0DB0-A041-DDD7-955F69947E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63" name="Line 39">
                  <a:extLst>
                    <a:ext uri="{FF2B5EF4-FFF2-40B4-BE49-F238E27FC236}">
                      <a16:creationId xmlns:a16="http://schemas.microsoft.com/office/drawing/2014/main" id="{6CA8A41B-B36E-5431-BF91-6CB9F74011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2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64" name="Line 42">
                  <a:extLst>
                    <a:ext uri="{FF2B5EF4-FFF2-40B4-BE49-F238E27FC236}">
                      <a16:creationId xmlns:a16="http://schemas.microsoft.com/office/drawing/2014/main" id="{47E98D67-D91D-7766-A887-187D8E2638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6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65" name="Line 44">
                  <a:extLst>
                    <a:ext uri="{FF2B5EF4-FFF2-40B4-BE49-F238E27FC236}">
                      <a16:creationId xmlns:a16="http://schemas.microsoft.com/office/drawing/2014/main" id="{5AFDFDDD-7B62-357F-4856-9F891AC264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0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8" name="Group 110">
                <a:extLst>
                  <a:ext uri="{FF2B5EF4-FFF2-40B4-BE49-F238E27FC236}">
                    <a16:creationId xmlns:a16="http://schemas.microsoft.com/office/drawing/2014/main" id="{B8F74DA7-2FCB-0A81-1D4A-3391244B3B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9800" y="2423403"/>
                <a:ext cx="7924800" cy="365624"/>
                <a:chOff x="432" y="2736"/>
                <a:chExt cx="4992" cy="288"/>
              </a:xfrm>
            </p:grpSpPr>
            <p:sp>
              <p:nvSpPr>
                <p:cNvPr id="131" name="Line 83">
                  <a:extLst>
                    <a:ext uri="{FF2B5EF4-FFF2-40B4-BE49-F238E27FC236}">
                      <a16:creationId xmlns:a16="http://schemas.microsoft.com/office/drawing/2014/main" id="{4CE93E40-464F-C2C6-CCFF-4B77B6F009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2832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3" name="Line 84">
                  <a:extLst>
                    <a:ext uri="{FF2B5EF4-FFF2-40B4-BE49-F238E27FC236}">
                      <a16:creationId xmlns:a16="http://schemas.microsoft.com/office/drawing/2014/main" id="{CCE5DF77-C2BC-1723-004D-B697093205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3024"/>
                  <a:ext cx="28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4" name="Line 85">
                  <a:extLst>
                    <a:ext uri="{FF2B5EF4-FFF2-40B4-BE49-F238E27FC236}">
                      <a16:creationId xmlns:a16="http://schemas.microsoft.com/office/drawing/2014/main" id="{F7FC4F71-81C1-9054-C528-2ED4590194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0" y="302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5" name="Line 87">
                  <a:extLst>
                    <a:ext uri="{FF2B5EF4-FFF2-40B4-BE49-F238E27FC236}">
                      <a16:creationId xmlns:a16="http://schemas.microsoft.com/office/drawing/2014/main" id="{E58B473C-7482-6900-07D7-968ACC9DED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78" y="2928"/>
                  <a:ext cx="23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6" name="Line 88">
                  <a:extLst>
                    <a:ext uri="{FF2B5EF4-FFF2-40B4-BE49-F238E27FC236}">
                      <a16:creationId xmlns:a16="http://schemas.microsoft.com/office/drawing/2014/main" id="{BAB8B44F-2764-27D8-F4AF-EE3CDE7778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302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7" name="Line 91">
                  <a:extLst>
                    <a:ext uri="{FF2B5EF4-FFF2-40B4-BE49-F238E27FC236}">
                      <a16:creationId xmlns:a16="http://schemas.microsoft.com/office/drawing/2014/main" id="{BE405D6A-F823-337F-F24F-559DD78D4D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302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8" name="Line 92">
                  <a:extLst>
                    <a:ext uri="{FF2B5EF4-FFF2-40B4-BE49-F238E27FC236}">
                      <a16:creationId xmlns:a16="http://schemas.microsoft.com/office/drawing/2014/main" id="{7DC0CA0E-4208-65A9-B31C-08823DE45B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8" y="2832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9" name="Line 93">
                  <a:extLst>
                    <a:ext uri="{FF2B5EF4-FFF2-40B4-BE49-F238E27FC236}">
                      <a16:creationId xmlns:a16="http://schemas.microsoft.com/office/drawing/2014/main" id="{8D58A304-8AD4-BC0C-2462-5CE4C6436A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0" y="2832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0" name="Line 94">
                  <a:extLst>
                    <a:ext uri="{FF2B5EF4-FFF2-40B4-BE49-F238E27FC236}">
                      <a16:creationId xmlns:a16="http://schemas.microsoft.com/office/drawing/2014/main" id="{ADB7770E-9196-73B9-4D40-F836D6D6FC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2832"/>
                  <a:ext cx="33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1" name="Line 96">
                  <a:extLst>
                    <a:ext uri="{FF2B5EF4-FFF2-40B4-BE49-F238E27FC236}">
                      <a16:creationId xmlns:a16="http://schemas.microsoft.com/office/drawing/2014/main" id="{04A233E8-A260-8583-F48D-D295712C3B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96" y="2736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2" name="Line 98">
                  <a:extLst>
                    <a:ext uri="{FF2B5EF4-FFF2-40B4-BE49-F238E27FC236}">
                      <a16:creationId xmlns:a16="http://schemas.microsoft.com/office/drawing/2014/main" id="{EF51EDC0-9E3B-7FE9-D32D-DE26CD5545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8" y="2736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3" name="Line 100">
                  <a:extLst>
                    <a:ext uri="{FF2B5EF4-FFF2-40B4-BE49-F238E27FC236}">
                      <a16:creationId xmlns:a16="http://schemas.microsoft.com/office/drawing/2014/main" id="{50200641-38EA-63CA-9145-155374D057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640" y="3024"/>
                  <a:ext cx="43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4" name="Line 101">
                  <a:extLst>
                    <a:ext uri="{FF2B5EF4-FFF2-40B4-BE49-F238E27FC236}">
                      <a16:creationId xmlns:a16="http://schemas.microsoft.com/office/drawing/2014/main" id="{06F64F21-B5FB-7512-F1F3-7BB23ACB12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78" y="2736"/>
                  <a:ext cx="47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5" name="Line 102">
                  <a:extLst>
                    <a:ext uri="{FF2B5EF4-FFF2-40B4-BE49-F238E27FC236}">
                      <a16:creationId xmlns:a16="http://schemas.microsoft.com/office/drawing/2014/main" id="{78B8BD8E-4541-00D8-5A97-6E22DF0366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2832"/>
                  <a:ext cx="24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6" name="Line 103">
                  <a:extLst>
                    <a:ext uri="{FF2B5EF4-FFF2-40B4-BE49-F238E27FC236}">
                      <a16:creationId xmlns:a16="http://schemas.microsoft.com/office/drawing/2014/main" id="{F3754A07-D8A1-65A2-9BEE-78715E1529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832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7" name="Line 104">
                  <a:extLst>
                    <a:ext uri="{FF2B5EF4-FFF2-40B4-BE49-F238E27FC236}">
                      <a16:creationId xmlns:a16="http://schemas.microsoft.com/office/drawing/2014/main" id="{DE043A79-FEE6-1AAE-9FC5-BA389289E8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2" y="292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8" name="Line 105">
                  <a:extLst>
                    <a:ext uri="{FF2B5EF4-FFF2-40B4-BE49-F238E27FC236}">
                      <a16:creationId xmlns:a16="http://schemas.microsoft.com/office/drawing/2014/main" id="{8FC7B9DE-7409-31E0-B7CB-2F0370E7AB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2736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9" name="Line 106">
                  <a:extLst>
                    <a:ext uri="{FF2B5EF4-FFF2-40B4-BE49-F238E27FC236}">
                      <a16:creationId xmlns:a16="http://schemas.microsoft.com/office/drawing/2014/main" id="{9C040C6B-27AB-3078-9622-97114213DE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2" y="3024"/>
                  <a:ext cx="48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0" name="Line 107">
                  <a:extLst>
                    <a:ext uri="{FF2B5EF4-FFF2-40B4-BE49-F238E27FC236}">
                      <a16:creationId xmlns:a16="http://schemas.microsoft.com/office/drawing/2014/main" id="{BA86B2FD-36C3-D543-7CA5-2603316FAC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6" y="292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1" name="Line 108">
                  <a:extLst>
                    <a:ext uri="{FF2B5EF4-FFF2-40B4-BE49-F238E27FC236}">
                      <a16:creationId xmlns:a16="http://schemas.microsoft.com/office/drawing/2014/main" id="{0B0D8FD1-82F0-52FB-BFFB-727691D42B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0" y="302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9" name="Group 81">
                <a:extLst>
                  <a:ext uri="{FF2B5EF4-FFF2-40B4-BE49-F238E27FC236}">
                    <a16:creationId xmlns:a16="http://schemas.microsoft.com/office/drawing/2014/main" id="{9A5DADAC-6DB2-4068-75B4-9F76489DC8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9800" y="2423404"/>
                <a:ext cx="7924800" cy="243749"/>
                <a:chOff x="432" y="2208"/>
                <a:chExt cx="4992" cy="192"/>
              </a:xfrm>
            </p:grpSpPr>
            <p:sp>
              <p:nvSpPr>
                <p:cNvPr id="26" name="Line 18">
                  <a:extLst>
                    <a:ext uri="{FF2B5EF4-FFF2-40B4-BE49-F238E27FC236}">
                      <a16:creationId xmlns:a16="http://schemas.microsoft.com/office/drawing/2014/main" id="{65CF6675-3826-1B73-AF7B-7189B6A281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7" name="Line 21">
                  <a:extLst>
                    <a:ext uri="{FF2B5EF4-FFF2-40B4-BE49-F238E27FC236}">
                      <a16:creationId xmlns:a16="http://schemas.microsoft.com/office/drawing/2014/main" id="{FFA78CD6-7A85-EE86-CB52-3AA844CBF8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8" name="Line 24">
                  <a:extLst>
                    <a:ext uri="{FF2B5EF4-FFF2-40B4-BE49-F238E27FC236}">
                      <a16:creationId xmlns:a16="http://schemas.microsoft.com/office/drawing/2014/main" id="{E324174C-46A6-E6AE-E849-080517FE2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9" name="Line 25">
                  <a:extLst>
                    <a:ext uri="{FF2B5EF4-FFF2-40B4-BE49-F238E27FC236}">
                      <a16:creationId xmlns:a16="http://schemas.microsoft.com/office/drawing/2014/main" id="{7E55D942-72FD-201F-3686-0226DCF8B2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25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0" name="Line 28">
                  <a:extLst>
                    <a:ext uri="{FF2B5EF4-FFF2-40B4-BE49-F238E27FC236}">
                      <a16:creationId xmlns:a16="http://schemas.microsoft.com/office/drawing/2014/main" id="{66850E64-81EA-5B92-987E-9AD528D528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0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1" name="Line 30">
                  <a:extLst>
                    <a:ext uri="{FF2B5EF4-FFF2-40B4-BE49-F238E27FC236}">
                      <a16:creationId xmlns:a16="http://schemas.microsoft.com/office/drawing/2014/main" id="{3DA4A13F-08EE-216F-970B-8DF8CA2E1D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6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4" name="Line 31">
                  <a:extLst>
                    <a:ext uri="{FF2B5EF4-FFF2-40B4-BE49-F238E27FC236}">
                      <a16:creationId xmlns:a16="http://schemas.microsoft.com/office/drawing/2014/main" id="{F6396095-7652-3174-B560-3469BE4878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96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5" name="Line 32">
                  <a:extLst>
                    <a:ext uri="{FF2B5EF4-FFF2-40B4-BE49-F238E27FC236}">
                      <a16:creationId xmlns:a16="http://schemas.microsoft.com/office/drawing/2014/main" id="{5598F041-046D-2AC8-C825-73DA73800D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8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6" name="Line 33">
                  <a:extLst>
                    <a:ext uri="{FF2B5EF4-FFF2-40B4-BE49-F238E27FC236}">
                      <a16:creationId xmlns:a16="http://schemas.microsoft.com/office/drawing/2014/main" id="{D62D98C5-7960-B06D-8B29-843F12C87F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8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7" name="Line 34">
                  <a:extLst>
                    <a:ext uri="{FF2B5EF4-FFF2-40B4-BE49-F238E27FC236}">
                      <a16:creationId xmlns:a16="http://schemas.microsoft.com/office/drawing/2014/main" id="{19A12365-6DDF-9DB1-4653-EA152E4D66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3" name="Line 38">
                  <a:extLst>
                    <a:ext uri="{FF2B5EF4-FFF2-40B4-BE49-F238E27FC236}">
                      <a16:creationId xmlns:a16="http://schemas.microsoft.com/office/drawing/2014/main" id="{879C9123-4296-3F56-8380-C7F09E2314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2304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26" name="Line 39">
                  <a:extLst>
                    <a:ext uri="{FF2B5EF4-FFF2-40B4-BE49-F238E27FC236}">
                      <a16:creationId xmlns:a16="http://schemas.microsoft.com/office/drawing/2014/main" id="{D0E774F6-AA6B-C108-7E0C-47DB37E2F6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2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29" name="Line 42">
                  <a:extLst>
                    <a:ext uri="{FF2B5EF4-FFF2-40B4-BE49-F238E27FC236}">
                      <a16:creationId xmlns:a16="http://schemas.microsoft.com/office/drawing/2014/main" id="{E985309C-D203-E088-22C0-4713B8AD5D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6" y="2400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0" name="Line 44">
                  <a:extLst>
                    <a:ext uri="{FF2B5EF4-FFF2-40B4-BE49-F238E27FC236}">
                      <a16:creationId xmlns:a16="http://schemas.microsoft.com/office/drawing/2014/main" id="{5C0F7563-934F-7F58-794F-AF548568A3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0" y="2208"/>
                  <a:ext cx="57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1" name="Group 80">
                <a:extLst>
                  <a:ext uri="{FF2B5EF4-FFF2-40B4-BE49-F238E27FC236}">
                    <a16:creationId xmlns:a16="http://schemas.microsoft.com/office/drawing/2014/main" id="{21D122B2-486C-03E6-AE39-CAB4E696D1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9800" y="1700586"/>
                <a:ext cx="7848600" cy="8714"/>
                <a:chOff x="432" y="-111393"/>
                <a:chExt cx="4944" cy="8714"/>
              </a:xfrm>
            </p:grpSpPr>
            <p:sp>
              <p:nvSpPr>
                <p:cNvPr id="22" name="Line 75">
                  <a:extLst>
                    <a:ext uri="{FF2B5EF4-FFF2-40B4-BE49-F238E27FC236}">
                      <a16:creationId xmlns:a16="http://schemas.microsoft.com/office/drawing/2014/main" id="{8ABF23B8-8448-0BE0-5D1C-D2C402FA1F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-111393"/>
                  <a:ext cx="1200" cy="0"/>
                </a:xfrm>
                <a:prstGeom prst="line">
                  <a:avLst/>
                </a:prstGeom>
                <a:noFill/>
                <a:ln w="127000">
                  <a:solidFill>
                    <a:schemeClr val="accent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" name="Line 76">
                  <a:extLst>
                    <a:ext uri="{FF2B5EF4-FFF2-40B4-BE49-F238E27FC236}">
                      <a16:creationId xmlns:a16="http://schemas.microsoft.com/office/drawing/2014/main" id="{78C8832F-E524-55FD-860A-4BBE0E306F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6" y="-102679"/>
                  <a:ext cx="720" cy="0"/>
                </a:xfrm>
                <a:prstGeom prst="line">
                  <a:avLst/>
                </a:prstGeom>
                <a:noFill/>
                <a:ln w="127000">
                  <a:solidFill>
                    <a:schemeClr val="accent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4" name="Line 77">
                  <a:extLst>
                    <a:ext uri="{FF2B5EF4-FFF2-40B4-BE49-F238E27FC236}">
                      <a16:creationId xmlns:a16="http://schemas.microsoft.com/office/drawing/2014/main" id="{C2A4CDA1-3054-94DE-ED54-35B687CC9E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8" y="-102679"/>
                  <a:ext cx="1344" cy="0"/>
                </a:xfrm>
                <a:prstGeom prst="line">
                  <a:avLst/>
                </a:prstGeom>
                <a:noFill/>
                <a:ln w="127000">
                  <a:solidFill>
                    <a:schemeClr val="accent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5" name="Line 79">
                  <a:extLst>
                    <a:ext uri="{FF2B5EF4-FFF2-40B4-BE49-F238E27FC236}">
                      <a16:creationId xmlns:a16="http://schemas.microsoft.com/office/drawing/2014/main" id="{2F8B8505-194D-5E56-F407-0AD6D50FF2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8" y="-111393"/>
                  <a:ext cx="1194" cy="8714"/>
                </a:xfrm>
                <a:prstGeom prst="line">
                  <a:avLst/>
                </a:prstGeom>
                <a:noFill/>
                <a:ln w="127000">
                  <a:solidFill>
                    <a:schemeClr val="accent1">
                      <a:lumMod val="75000"/>
                    </a:schemeClr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nl-NL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6CC189E-12C0-BAE4-04E2-906BFC5AC3CA}"/>
                </a:ext>
              </a:extLst>
            </p:cNvPr>
            <p:cNvSpPr txBox="1"/>
            <p:nvPr/>
          </p:nvSpPr>
          <p:spPr>
            <a:xfrm>
              <a:off x="9836005" y="4634102"/>
              <a:ext cx="1565493" cy="369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Contigs</a:t>
              </a:r>
              <a:endParaRPr lang="nl-NL" dirty="0"/>
            </a:p>
          </p:txBody>
        </p: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67EEDF36-09E4-80C9-FABD-5E511029D131}"/>
              </a:ext>
            </a:extLst>
          </p:cNvPr>
          <p:cNvSpPr txBox="1"/>
          <p:nvPr/>
        </p:nvSpPr>
        <p:spPr>
          <a:xfrm>
            <a:off x="9493069" y="3692281"/>
            <a:ext cx="1671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09055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Reference-guided assembly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592583"/>
            <a:ext cx="8991600" cy="498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need a closely related reference genome:</a:t>
            </a:r>
          </a:p>
          <a:p>
            <a:pPr lvl="1"/>
            <a:r>
              <a:rPr lang="en-US" dirty="0"/>
              <a:t>Same species</a:t>
            </a:r>
          </a:p>
          <a:p>
            <a:endParaRPr lang="en-US" dirty="0"/>
          </a:p>
          <a:p>
            <a:r>
              <a:rPr lang="en-US" dirty="0"/>
              <a:t>Reference genome leads to biases in the assembly</a:t>
            </a:r>
          </a:p>
          <a:p>
            <a:pPr lvl="1"/>
            <a:r>
              <a:rPr lang="en-US" dirty="0"/>
              <a:t>Genome structure</a:t>
            </a:r>
          </a:p>
          <a:p>
            <a:pPr lvl="2"/>
            <a:r>
              <a:rPr lang="en-US" dirty="0"/>
              <a:t>Insertions, deletions, rearrangements</a:t>
            </a:r>
          </a:p>
          <a:p>
            <a:endParaRPr lang="en-US" dirty="0"/>
          </a:p>
          <a:p>
            <a:r>
              <a:rPr lang="en-US" dirty="0"/>
              <a:t>If we only have a distantly related reference: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</a:t>
            </a:r>
            <a:r>
              <a:rPr lang="en-US" dirty="0"/>
              <a:t> we need to be more permissive when aligning reads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 this will lead to more possible errors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7158FA-CD54-7749-96B4-6DEE27A34FA1}"/>
              </a:ext>
            </a:extLst>
          </p:cNvPr>
          <p:cNvCxnSpPr>
            <a:cxnSpLocks/>
          </p:cNvCxnSpPr>
          <p:nvPr/>
        </p:nvCxnSpPr>
        <p:spPr>
          <a:xfrm>
            <a:off x="0" y="1257383"/>
            <a:ext cx="12192000" cy="0"/>
          </a:xfrm>
          <a:prstGeom prst="line">
            <a:avLst/>
          </a:prstGeom>
          <a:ln w="28575">
            <a:gradFill>
              <a:gsLst>
                <a:gs pos="0">
                  <a:srgbClr val="FF0000"/>
                </a:gs>
                <a:gs pos="25000">
                  <a:srgbClr val="FFFF00"/>
                </a:gs>
                <a:gs pos="50000">
                  <a:srgbClr val="00FA00"/>
                </a:gs>
                <a:gs pos="100000">
                  <a:srgbClr val="0432FF"/>
                </a:gs>
                <a:gs pos="75000">
                  <a:srgbClr val="00FDFF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232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67" y="-13058"/>
            <a:ext cx="4728117" cy="609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Tree of life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4832" y="1"/>
            <a:ext cx="5753168" cy="6844941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57520" y="1118647"/>
            <a:ext cx="3417013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5297" tIns="25297" rIns="25297" bIns="25297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 dirty="0"/>
              <a:t>Italic: well-characterized clades</a:t>
            </a:r>
          </a:p>
          <a:p>
            <a:r>
              <a:rPr lang="en-US" sz="2800" dirty="0"/>
              <a:t>Red dot: clades with no representatives</a:t>
            </a:r>
          </a:p>
        </p:txBody>
      </p:sp>
      <p:sp>
        <p:nvSpPr>
          <p:cNvPr id="7" name="Oval 6"/>
          <p:cNvSpPr/>
          <p:nvPr/>
        </p:nvSpPr>
        <p:spPr>
          <a:xfrm>
            <a:off x="657520" y="2233957"/>
            <a:ext cx="122663" cy="1226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585112" y="6550224"/>
            <a:ext cx="2570255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pPr algn="r"/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Hug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sz="1400" i="1" dirty="0">
                <a:solidFill>
                  <a:schemeClr val="bg2">
                    <a:lumMod val="50000"/>
                  </a:schemeClr>
                </a:solidFill>
              </a:rPr>
              <a:t>et al.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Nature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Microbiol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2016</a:t>
            </a:r>
            <a:endParaRPr lang="nl-NL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922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86000" y="1040130"/>
            <a:ext cx="7696200" cy="2286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4" name="Group 116"/>
          <p:cNvGrpSpPr>
            <a:grpSpLocks/>
          </p:cNvGrpSpPr>
          <p:nvPr/>
        </p:nvGrpSpPr>
        <p:grpSpPr bwMode="auto">
          <a:xfrm rot="10800000">
            <a:off x="3581400" y="1497330"/>
            <a:ext cx="6172200" cy="760412"/>
            <a:chOff x="336" y="3361"/>
            <a:chExt cx="5040" cy="479"/>
          </a:xfrm>
        </p:grpSpPr>
        <p:sp>
          <p:nvSpPr>
            <p:cNvPr id="10" name="Line 55"/>
            <p:cNvSpPr>
              <a:spLocks noChangeShapeType="1"/>
            </p:cNvSpPr>
            <p:nvPr/>
          </p:nvSpPr>
          <p:spPr bwMode="auto">
            <a:xfrm>
              <a:off x="336" y="3361"/>
              <a:ext cx="5040" cy="2"/>
            </a:xfrm>
            <a:prstGeom prst="line">
              <a:avLst/>
            </a:prstGeom>
            <a:noFill/>
            <a:ln w="76200">
              <a:solidFill>
                <a:schemeClr val="accent3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nl-NL">
                <a:solidFill>
                  <a:prstClr val="black"/>
                </a:solidFill>
              </a:endParaRPr>
            </a:p>
          </p:txBody>
        </p:sp>
        <p:grpSp>
          <p:nvGrpSpPr>
            <p:cNvPr id="5" name="Group 56"/>
            <p:cNvGrpSpPr>
              <a:grpSpLocks/>
            </p:cNvGrpSpPr>
            <p:nvPr/>
          </p:nvGrpSpPr>
          <p:grpSpPr bwMode="auto">
            <a:xfrm>
              <a:off x="336" y="3552"/>
              <a:ext cx="4944" cy="288"/>
              <a:chOff x="384" y="1728"/>
              <a:chExt cx="4944" cy="144"/>
            </a:xfrm>
          </p:grpSpPr>
          <p:sp>
            <p:nvSpPr>
              <p:cNvPr id="15" name="Line 59"/>
              <p:cNvSpPr>
                <a:spLocks noChangeShapeType="1"/>
              </p:cNvSpPr>
              <p:nvPr/>
            </p:nvSpPr>
            <p:spPr bwMode="auto">
              <a:xfrm>
                <a:off x="1872" y="1872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Line 60"/>
              <p:cNvSpPr>
                <a:spLocks noChangeShapeType="1"/>
              </p:cNvSpPr>
              <p:nvPr/>
            </p:nvSpPr>
            <p:spPr bwMode="auto">
              <a:xfrm>
                <a:off x="2160" y="182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Line 61"/>
              <p:cNvSpPr>
                <a:spLocks noChangeShapeType="1"/>
              </p:cNvSpPr>
              <p:nvPr/>
            </p:nvSpPr>
            <p:spPr bwMode="auto">
              <a:xfrm>
                <a:off x="1488" y="182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Line 63"/>
              <p:cNvSpPr>
                <a:spLocks noChangeShapeType="1"/>
              </p:cNvSpPr>
              <p:nvPr/>
            </p:nvSpPr>
            <p:spPr bwMode="auto">
              <a:xfrm>
                <a:off x="480" y="182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Line 66"/>
              <p:cNvSpPr>
                <a:spLocks noChangeShapeType="1"/>
              </p:cNvSpPr>
              <p:nvPr/>
            </p:nvSpPr>
            <p:spPr bwMode="auto">
              <a:xfrm>
                <a:off x="4226" y="1776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20" name="Line 67"/>
              <p:cNvSpPr>
                <a:spLocks noChangeShapeType="1"/>
              </p:cNvSpPr>
              <p:nvPr/>
            </p:nvSpPr>
            <p:spPr bwMode="auto">
              <a:xfrm>
                <a:off x="2112" y="1776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21" name="Line 68"/>
              <p:cNvSpPr>
                <a:spLocks noChangeShapeType="1"/>
              </p:cNvSpPr>
              <p:nvPr/>
            </p:nvSpPr>
            <p:spPr bwMode="auto">
              <a:xfrm>
                <a:off x="1152" y="1776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Line 70"/>
              <p:cNvSpPr>
                <a:spLocks noChangeShapeType="1"/>
              </p:cNvSpPr>
              <p:nvPr/>
            </p:nvSpPr>
            <p:spPr bwMode="auto">
              <a:xfrm>
                <a:off x="2448" y="172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Line 72"/>
              <p:cNvSpPr>
                <a:spLocks noChangeShapeType="1"/>
              </p:cNvSpPr>
              <p:nvPr/>
            </p:nvSpPr>
            <p:spPr bwMode="auto">
              <a:xfrm>
                <a:off x="3840" y="172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Line 73"/>
              <p:cNvSpPr>
                <a:spLocks noChangeShapeType="1"/>
              </p:cNvSpPr>
              <p:nvPr/>
            </p:nvSpPr>
            <p:spPr bwMode="auto">
              <a:xfrm>
                <a:off x="384" y="172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25" name="Line 74"/>
              <p:cNvSpPr>
                <a:spLocks noChangeShapeType="1"/>
              </p:cNvSpPr>
              <p:nvPr/>
            </p:nvSpPr>
            <p:spPr bwMode="auto">
              <a:xfrm>
                <a:off x="2592" y="1872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26" name="Line 75"/>
              <p:cNvSpPr>
                <a:spLocks noChangeShapeType="1"/>
              </p:cNvSpPr>
              <p:nvPr/>
            </p:nvSpPr>
            <p:spPr bwMode="auto">
              <a:xfrm>
                <a:off x="1728" y="172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Line 76"/>
              <p:cNvSpPr>
                <a:spLocks noChangeShapeType="1"/>
              </p:cNvSpPr>
              <p:nvPr/>
            </p:nvSpPr>
            <p:spPr bwMode="auto">
              <a:xfrm>
                <a:off x="2784" y="1776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Line 77"/>
              <p:cNvSpPr>
                <a:spLocks noChangeShapeType="1"/>
              </p:cNvSpPr>
              <p:nvPr/>
            </p:nvSpPr>
            <p:spPr bwMode="auto">
              <a:xfrm>
                <a:off x="432" y="1776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Line 79"/>
              <p:cNvSpPr>
                <a:spLocks noChangeShapeType="1"/>
              </p:cNvSpPr>
              <p:nvPr/>
            </p:nvSpPr>
            <p:spPr bwMode="auto">
              <a:xfrm>
                <a:off x="1008" y="172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Line 80"/>
              <p:cNvSpPr>
                <a:spLocks noChangeShapeType="1"/>
              </p:cNvSpPr>
              <p:nvPr/>
            </p:nvSpPr>
            <p:spPr bwMode="auto">
              <a:xfrm>
                <a:off x="1104" y="1872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Line 83"/>
              <p:cNvSpPr>
                <a:spLocks noChangeShapeType="1"/>
              </p:cNvSpPr>
              <p:nvPr/>
            </p:nvSpPr>
            <p:spPr bwMode="auto">
              <a:xfrm>
                <a:off x="4752" y="172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1" name="Group 113"/>
            <p:cNvGrpSpPr>
              <a:grpSpLocks/>
            </p:cNvGrpSpPr>
            <p:nvPr/>
          </p:nvGrpSpPr>
          <p:grpSpPr bwMode="auto">
            <a:xfrm>
              <a:off x="336" y="3361"/>
              <a:ext cx="4944" cy="47"/>
              <a:chOff x="384" y="1296"/>
              <a:chExt cx="4944" cy="0"/>
            </a:xfrm>
          </p:grpSpPr>
          <p:sp>
            <p:nvSpPr>
              <p:cNvPr id="13" name="Line 114"/>
              <p:cNvSpPr>
                <a:spLocks noChangeShapeType="1"/>
              </p:cNvSpPr>
              <p:nvPr/>
            </p:nvSpPr>
            <p:spPr bwMode="auto">
              <a:xfrm>
                <a:off x="384" y="1296"/>
                <a:ext cx="2976" cy="0"/>
              </a:xfrm>
              <a:prstGeom prst="line">
                <a:avLst/>
              </a:prstGeom>
              <a:noFill/>
              <a:ln w="127000">
                <a:solidFill>
                  <a:srgbClr val="33CC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Line 115"/>
              <p:cNvSpPr>
                <a:spLocks noChangeShapeType="1"/>
              </p:cNvSpPr>
              <p:nvPr/>
            </p:nvSpPr>
            <p:spPr bwMode="auto">
              <a:xfrm>
                <a:off x="3840" y="1296"/>
                <a:ext cx="1488" cy="0"/>
              </a:xfrm>
              <a:prstGeom prst="line">
                <a:avLst/>
              </a:prstGeom>
              <a:noFill/>
              <a:ln w="127000">
                <a:solidFill>
                  <a:srgbClr val="33CC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nl-NL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6" name="Text Box 28"/>
          <p:cNvSpPr txBox="1">
            <a:spLocks noChangeArrowheads="1"/>
          </p:cNvSpPr>
          <p:nvPr/>
        </p:nvSpPr>
        <p:spPr bwMode="auto">
          <a:xfrm>
            <a:off x="5682467" y="2726710"/>
            <a:ext cx="1719820" cy="5232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prstClr val="black"/>
                </a:solidFill>
              </a:rPr>
              <a:t>Coverage</a:t>
            </a: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 rot="16200000">
            <a:off x="2172622" y="1700635"/>
            <a:ext cx="1054776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Coverage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124200" y="1116330"/>
            <a:ext cx="0" cy="160020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724399" y="2574310"/>
            <a:ext cx="3733800" cy="0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le 1"/>
          <p:cNvSpPr txBox="1">
            <a:spLocks/>
          </p:cNvSpPr>
          <p:nvPr/>
        </p:nvSpPr>
        <p:spPr>
          <a:xfrm>
            <a:off x="1980192" y="76203"/>
            <a:ext cx="8228110" cy="758887"/>
          </a:xfrm>
          <a:prstGeom prst="rect">
            <a:avLst/>
          </a:prstGeom>
        </p:spPr>
        <p:txBody>
          <a:bodyPr vert="horz" wrap="square" lIns="91440" tIns="35268" rIns="91440" bIns="45720" rtlCol="0" anchor="ctr">
            <a:spAutoFit/>
          </a:bodyPr>
          <a:lstStyle>
            <a:defPPr lvl="0">
              <a:buNone/>
            </a:defPPr>
            <a:lvl1pPr lvl="0">
              <a:buNone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algn="ctr">
              <a:spcBef>
                <a:spcPct val="0"/>
              </a:spcBef>
              <a:tabLst>
                <a:tab pos="0" algn="l"/>
                <a:tab pos="656377" algn="l"/>
                <a:tab pos="1313081" algn="l"/>
                <a:tab pos="1969786" algn="l"/>
                <a:tab pos="2626489" algn="l"/>
                <a:tab pos="3283194" algn="l"/>
                <a:tab pos="3939898" algn="l"/>
                <a:tab pos="4596276" algn="l"/>
                <a:tab pos="5252979" algn="l"/>
                <a:tab pos="5909684" algn="l"/>
                <a:tab pos="6566388" algn="l"/>
                <a:tab pos="7223092" algn="l"/>
                <a:tab pos="7879796" algn="l"/>
                <a:tab pos="8294521" algn="l"/>
                <a:tab pos="8709249" algn="l"/>
                <a:tab pos="9123974" algn="l"/>
                <a:tab pos="9538701" algn="l"/>
              </a:tabLst>
              <a:defRPr/>
            </a:pPr>
            <a:r>
              <a:rPr lang="en-US" sz="4400" dirty="0">
                <a:solidFill>
                  <a:schemeClr val="accent1"/>
                </a:solidFill>
              </a:rPr>
              <a:t>Coverage</a:t>
            </a:r>
            <a:r>
              <a:rPr lang="en-US" sz="4000" i="1" dirty="0">
                <a:solidFill>
                  <a:schemeClr val="accent1"/>
                </a:solidFill>
              </a:rPr>
              <a:t> (ambiguous term!)</a:t>
            </a:r>
            <a:endParaRPr lang="en-US" sz="4400" i="1" dirty="0">
              <a:solidFill>
                <a:schemeClr val="accent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9E82D9E-510A-5846-BDC8-C12B949CA017}"/>
              </a:ext>
            </a:extLst>
          </p:cNvPr>
          <p:cNvGrpSpPr/>
          <p:nvPr/>
        </p:nvGrpSpPr>
        <p:grpSpPr>
          <a:xfrm>
            <a:off x="2443719" y="1349052"/>
            <a:ext cx="5693353" cy="1905001"/>
            <a:chOff x="914401" y="2819399"/>
            <a:chExt cx="5693353" cy="1905001"/>
          </a:xfrm>
        </p:grpSpPr>
        <p:sp>
          <p:nvSpPr>
            <p:cNvPr id="33" name="Text Box 28">
              <a:extLst>
                <a:ext uri="{FF2B5EF4-FFF2-40B4-BE49-F238E27FC236}">
                  <a16:creationId xmlns:a16="http://schemas.microsoft.com/office/drawing/2014/main" id="{CDFACDF3-9807-0046-8CB5-7545EEF073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999" y="4201180"/>
              <a:ext cx="3178755" cy="5232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prstClr val="black"/>
                  </a:solidFill>
                </a:rPr>
                <a:t>Horizontal coverage</a:t>
              </a:r>
            </a:p>
          </p:txBody>
        </p:sp>
        <p:sp>
          <p:nvSpPr>
            <p:cNvPr id="34" name="Text Box 28">
              <a:extLst>
                <a:ext uri="{FF2B5EF4-FFF2-40B4-BE49-F238E27FC236}">
                  <a16:creationId xmlns:a16="http://schemas.microsoft.com/office/drawing/2014/main" id="{E2DC54B3-61C2-214D-B4A6-DA7612BE2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635638" y="3098162"/>
              <a:ext cx="1080745" cy="5232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prstClr val="black"/>
                  </a:solidFill>
                </a:rPr>
                <a:t>Depth</a:t>
              </a:r>
            </a:p>
          </p:txBody>
        </p:sp>
      </p:grp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A95164C-EA31-BB4B-BF44-D43FD04B0C06}"/>
              </a:ext>
            </a:extLst>
          </p:cNvPr>
          <p:cNvSpPr txBox="1">
            <a:spLocks/>
          </p:cNvSpPr>
          <p:nvPr/>
        </p:nvSpPr>
        <p:spPr>
          <a:xfrm>
            <a:off x="1600201" y="3524873"/>
            <a:ext cx="8983717" cy="32559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prstClr val="black"/>
                </a:solidFill>
              </a:rPr>
              <a:t>Coverage: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Average number of reads that </a:t>
            </a:r>
            <a:r>
              <a:rPr lang="en-US" u="sng" dirty="0">
                <a:solidFill>
                  <a:prstClr val="black"/>
                </a:solidFill>
              </a:rPr>
              <a:t>cover</a:t>
            </a:r>
            <a:r>
              <a:rPr lang="en-US" dirty="0">
                <a:solidFill>
                  <a:prstClr val="black"/>
                </a:solidFill>
              </a:rPr>
              <a:t> each nucleotide in the assembly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Corresponds to the abundance of a sequence in the sample</a:t>
            </a:r>
          </a:p>
          <a:p>
            <a:r>
              <a:rPr lang="en-US" dirty="0">
                <a:solidFill>
                  <a:prstClr val="black"/>
                </a:solidFill>
              </a:rPr>
              <a:t>Coverage: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Percentage of the target genome that has been (re)</a:t>
            </a:r>
            <a:r>
              <a:rPr lang="en-US" u="sng" dirty="0">
                <a:solidFill>
                  <a:prstClr val="black"/>
                </a:solidFill>
              </a:rPr>
              <a:t>cover</a:t>
            </a:r>
            <a:r>
              <a:rPr lang="en-US" dirty="0">
                <a:solidFill>
                  <a:prstClr val="black"/>
                </a:solidFill>
              </a:rPr>
              <a:t>ed after the assembly</a:t>
            </a:r>
            <a:endParaRPr lang="en-US" u="sng" dirty="0">
              <a:solidFill>
                <a:prstClr val="black"/>
              </a:solidFill>
            </a:endParaRPr>
          </a:p>
        </p:txBody>
      </p:sp>
      <p:sp>
        <p:nvSpPr>
          <p:cNvPr id="38" name="Text Box 28">
            <a:extLst>
              <a:ext uri="{FF2B5EF4-FFF2-40B4-BE49-F238E27FC236}">
                <a16:creationId xmlns:a16="http://schemas.microsoft.com/office/drawing/2014/main" id="{BFF44858-F0D0-6F42-AADF-A0A8E9678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340" y="5198076"/>
            <a:ext cx="3579894" cy="584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</a:rPr>
              <a:t>Horizontal coverage:</a:t>
            </a:r>
          </a:p>
        </p:txBody>
      </p:sp>
      <p:sp>
        <p:nvSpPr>
          <p:cNvPr id="39" name="Text Box 28">
            <a:extLst>
              <a:ext uri="{FF2B5EF4-FFF2-40B4-BE49-F238E27FC236}">
                <a16:creationId xmlns:a16="http://schemas.microsoft.com/office/drawing/2014/main" id="{008EB2E1-05D7-FD47-B05C-3B25CB168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340" y="3452484"/>
            <a:ext cx="4432854" cy="584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</a:rPr>
              <a:t>Depth (vertical coverage):</a:t>
            </a:r>
          </a:p>
        </p:txBody>
      </p:sp>
    </p:spTree>
    <p:extLst>
      <p:ext uri="{BB962C8B-B14F-4D97-AF65-F5344CB8AC3E}">
        <p14:creationId xmlns:p14="http://schemas.microsoft.com/office/powerpoint/2010/main" val="3307206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1600200" y="2004767"/>
            <a:ext cx="8991600" cy="4018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prstClr val="black"/>
                </a:solidFill>
              </a:rPr>
              <a:t>Requires sufficient sequencing (coverage x depth)</a:t>
            </a:r>
          </a:p>
          <a:p>
            <a:r>
              <a:rPr lang="en-US" dirty="0">
                <a:solidFill>
                  <a:prstClr val="black"/>
                </a:solidFill>
              </a:rPr>
              <a:t>Breaks on repeats and low-coverage regions</a:t>
            </a:r>
          </a:p>
          <a:p>
            <a:r>
              <a:rPr lang="en-US" dirty="0">
                <a:solidFill>
                  <a:prstClr val="black"/>
                </a:solidFill>
              </a:rPr>
              <a:t>Algorithms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Greedy extension 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Overlap-layout-consensus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De </a:t>
            </a:r>
            <a:r>
              <a:rPr lang="en-US" dirty="0" err="1">
                <a:solidFill>
                  <a:prstClr val="black"/>
                </a:solidFill>
              </a:rPr>
              <a:t>Bruijn</a:t>
            </a:r>
            <a:r>
              <a:rPr lang="en-US" dirty="0">
                <a:solidFill>
                  <a:prstClr val="black"/>
                </a:solidFill>
              </a:rPr>
              <a:t> graph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De novo</a:t>
            </a:r>
            <a:r>
              <a:rPr lang="en-US" dirty="0">
                <a:solidFill>
                  <a:schemeClr val="accent1"/>
                </a:solidFill>
              </a:rPr>
              <a:t> sequence assembly</a:t>
            </a:r>
          </a:p>
        </p:txBody>
      </p:sp>
    </p:spTree>
    <p:extLst>
      <p:ext uri="{BB962C8B-B14F-4D97-AF65-F5344CB8AC3E}">
        <p14:creationId xmlns:p14="http://schemas.microsoft.com/office/powerpoint/2010/main" val="1593426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1600200" y="2004767"/>
            <a:ext cx="8991600" cy="4018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prstClr val="black"/>
                </a:solidFill>
              </a:rPr>
              <a:t>Requires sufficient sequencing (coverage x depth)</a:t>
            </a:r>
          </a:p>
          <a:p>
            <a:r>
              <a:rPr lang="en-US" dirty="0">
                <a:solidFill>
                  <a:prstClr val="black"/>
                </a:solidFill>
              </a:rPr>
              <a:t>Breaks on repeats and low-coverage regions</a:t>
            </a:r>
          </a:p>
          <a:p>
            <a:r>
              <a:rPr lang="en-US" dirty="0">
                <a:solidFill>
                  <a:prstClr val="black"/>
                </a:solidFill>
              </a:rPr>
              <a:t>Algorithms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Greedy extension -&gt; no longer used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Overlap-layout-consensus -&gt; slower – low quality data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De Bruijn graph -&gt; faster – requires high quality data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De novo</a:t>
            </a:r>
            <a:r>
              <a:rPr lang="en-US" dirty="0">
                <a:solidFill>
                  <a:schemeClr val="accent1"/>
                </a:solidFill>
              </a:rPr>
              <a:t> sequence assembly</a:t>
            </a:r>
          </a:p>
        </p:txBody>
      </p:sp>
    </p:spTree>
    <p:extLst>
      <p:ext uri="{BB962C8B-B14F-4D97-AF65-F5344CB8AC3E}">
        <p14:creationId xmlns:p14="http://schemas.microsoft.com/office/powerpoint/2010/main" val="3565578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E3BFE7-7EE1-4844-AC97-D479BB4B8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55" y="1320825"/>
            <a:ext cx="3352800" cy="242030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-1"/>
            <a:ext cx="9144000" cy="703385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How to assess assembly quality?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043354"/>
            <a:ext cx="8712200" cy="4114800"/>
          </a:xfrm>
        </p:spPr>
        <p:txBody>
          <a:bodyPr>
            <a:normAutofit/>
          </a:bodyPr>
          <a:lstStyle/>
          <a:p>
            <a:r>
              <a:rPr lang="en-US" dirty="0"/>
              <a:t>General assembly performance metrics</a:t>
            </a:r>
          </a:p>
          <a:p>
            <a:pPr lvl="1"/>
            <a:r>
              <a:rPr lang="en-US" dirty="0"/>
              <a:t>Length of longest contig</a:t>
            </a:r>
          </a:p>
          <a:p>
            <a:pPr lvl="1"/>
            <a:r>
              <a:rPr lang="en-US" dirty="0"/>
              <a:t>N50, N80</a:t>
            </a:r>
          </a:p>
          <a:p>
            <a:pPr lvl="1"/>
            <a:r>
              <a:rPr lang="en-US" dirty="0"/>
              <a:t>Percentage of matched paired-end reads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B6FA20-9D2D-6C42-9969-F2B1AF3807E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95600" y="4305300"/>
            <a:ext cx="7416800" cy="243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03B539-1592-166F-8AF2-0454F325C981}"/>
              </a:ext>
            </a:extLst>
          </p:cNvPr>
          <p:cNvSpPr txBox="1"/>
          <p:nvPr/>
        </p:nvSpPr>
        <p:spPr>
          <a:xfrm>
            <a:off x="1606062" y="3785661"/>
            <a:ext cx="906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/>
              <a:t>- Length distribution of open reading frames (ORFs)</a:t>
            </a:r>
          </a:p>
        </p:txBody>
      </p:sp>
    </p:spTree>
    <p:extLst>
      <p:ext uri="{BB962C8B-B14F-4D97-AF65-F5344CB8AC3E}">
        <p14:creationId xmlns:p14="http://schemas.microsoft.com/office/powerpoint/2010/main" val="422148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70934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Assembly length statistics: N50 and N80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854198"/>
            <a:ext cx="8991600" cy="1393122"/>
          </a:xfrm>
        </p:spPr>
        <p:txBody>
          <a:bodyPr/>
          <a:lstStyle/>
          <a:p>
            <a:r>
              <a:rPr lang="en-US" sz="2800" dirty="0"/>
              <a:t>Sort all contigs from long to short</a:t>
            </a:r>
          </a:p>
          <a:p>
            <a:r>
              <a:rPr lang="en-US" sz="2800" dirty="0"/>
              <a:t>N50 = length of contig at 50% of cumulative length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 rot="10800000">
            <a:off x="1600200" y="1113721"/>
            <a:ext cx="8991600" cy="0"/>
            <a:chOff x="76200" y="762000"/>
            <a:chExt cx="8991600" cy="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28600" y="762000"/>
              <a:ext cx="1524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457200" y="762000"/>
              <a:ext cx="1524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685800" y="762000"/>
              <a:ext cx="2286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990600" y="762000"/>
              <a:ext cx="3048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371600" y="762000"/>
              <a:ext cx="3048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752600" y="762000"/>
              <a:ext cx="3810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209800" y="762000"/>
              <a:ext cx="3810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667000" y="762000"/>
              <a:ext cx="4572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0400" y="762000"/>
              <a:ext cx="6096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886200" y="762000"/>
              <a:ext cx="7620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4724400" y="762000"/>
              <a:ext cx="8382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638800" y="762000"/>
              <a:ext cx="9906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6705600" y="762000"/>
              <a:ext cx="10668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848600" y="762000"/>
              <a:ext cx="12192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76200" y="762000"/>
              <a:ext cx="762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Straight Arrow Connector 49"/>
          <p:cNvCxnSpPr>
            <a:cxnSpLocks/>
          </p:cNvCxnSpPr>
          <p:nvPr/>
        </p:nvCxnSpPr>
        <p:spPr>
          <a:xfrm flipV="1">
            <a:off x="2379785" y="1189921"/>
            <a:ext cx="3138855" cy="1166417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cxnSpLocks/>
          </p:cNvCxnSpPr>
          <p:nvPr/>
        </p:nvCxnSpPr>
        <p:spPr>
          <a:xfrm>
            <a:off x="5093681" y="1113720"/>
            <a:ext cx="849919" cy="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24003" y="1189921"/>
            <a:ext cx="1020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Contig_1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3" y="1189921"/>
            <a:ext cx="1052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</a:rPr>
              <a:t>Contig_N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18CD3B-8BC8-C900-0C0D-422ED5943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228" y="3753254"/>
            <a:ext cx="8998797" cy="181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9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236402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Assembly length statistics: N50 and N80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787890"/>
            <a:ext cx="8991600" cy="5334000"/>
          </a:xfrm>
        </p:spPr>
        <p:txBody>
          <a:bodyPr/>
          <a:lstStyle/>
          <a:p>
            <a:r>
              <a:rPr lang="en-US" sz="2800" dirty="0"/>
              <a:t>Sort all contigs from long to short</a:t>
            </a:r>
          </a:p>
          <a:p>
            <a:r>
              <a:rPr lang="en-US" sz="2800" dirty="0"/>
              <a:t>N50 = length of contig at 50% of cumulative length</a:t>
            </a:r>
          </a:p>
          <a:p>
            <a:r>
              <a:rPr lang="en-US" sz="2800" dirty="0"/>
              <a:t>N80 = length of contig at 80% of cumulative length</a:t>
            </a:r>
          </a:p>
          <a:p>
            <a:r>
              <a:rPr lang="en-US" sz="2800" dirty="0"/>
              <a:t>This measure is less meaningful for metagenomes from highly diverse communities</a:t>
            </a:r>
          </a:p>
        </p:txBody>
      </p:sp>
      <p:grpSp>
        <p:nvGrpSpPr>
          <p:cNvPr id="8" name="Group 7"/>
          <p:cNvGrpSpPr/>
          <p:nvPr/>
        </p:nvGrpSpPr>
        <p:grpSpPr>
          <a:xfrm rot="10800000">
            <a:off x="1600200" y="1113721"/>
            <a:ext cx="8991600" cy="0"/>
            <a:chOff x="76200" y="762000"/>
            <a:chExt cx="8991600" cy="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28600" y="762000"/>
              <a:ext cx="1524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457200" y="762000"/>
              <a:ext cx="1524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685800" y="762000"/>
              <a:ext cx="2286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990600" y="762000"/>
              <a:ext cx="3048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371600" y="762000"/>
              <a:ext cx="3048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752600" y="762000"/>
              <a:ext cx="3810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209800" y="762000"/>
              <a:ext cx="3810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667000" y="762000"/>
              <a:ext cx="4572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200400" y="762000"/>
              <a:ext cx="6096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886200" y="762000"/>
              <a:ext cx="7620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4724400" y="762000"/>
              <a:ext cx="8382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638800" y="762000"/>
              <a:ext cx="9906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6705600" y="762000"/>
              <a:ext cx="10668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848600" y="762000"/>
              <a:ext cx="12192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76200" y="762000"/>
              <a:ext cx="76200" cy="0"/>
            </a:xfrm>
            <a:prstGeom prst="line">
              <a:avLst/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Straight Arrow Connector 49"/>
          <p:cNvCxnSpPr>
            <a:cxnSpLocks/>
          </p:cNvCxnSpPr>
          <p:nvPr/>
        </p:nvCxnSpPr>
        <p:spPr>
          <a:xfrm flipV="1">
            <a:off x="2544924" y="1277815"/>
            <a:ext cx="2777353" cy="1125416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cxnSpLocks/>
          </p:cNvCxnSpPr>
          <p:nvPr/>
        </p:nvCxnSpPr>
        <p:spPr>
          <a:xfrm flipV="1">
            <a:off x="2544924" y="1277815"/>
            <a:ext cx="6165322" cy="171157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cxnSpLocks/>
          </p:cNvCxnSpPr>
          <p:nvPr/>
        </p:nvCxnSpPr>
        <p:spPr>
          <a:xfrm>
            <a:off x="5105400" y="1113720"/>
            <a:ext cx="838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8534400" y="1101997"/>
            <a:ext cx="3810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24003" y="1189921"/>
            <a:ext cx="1020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Contig_1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3" y="1189921"/>
            <a:ext cx="1052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</a:rPr>
              <a:t>Contig_N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26F88E-11FC-C35D-A8DF-6D396E8EF9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24" t="16410" r="30625" b="41124"/>
          <a:stretch/>
        </p:blipFill>
        <p:spPr>
          <a:xfrm>
            <a:off x="1859353" y="4298484"/>
            <a:ext cx="7056047" cy="25634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87C63E4-549B-2352-B641-0D6F8D55E21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7079" t="33534" r="10141" b="27861"/>
          <a:stretch/>
        </p:blipFill>
        <p:spPr>
          <a:xfrm>
            <a:off x="2569" y="5552689"/>
            <a:ext cx="1369320" cy="130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8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/>
          <p:cNvSpPr/>
          <p:nvPr/>
        </p:nvSpPr>
        <p:spPr>
          <a:xfrm>
            <a:off x="4953000" y="2286000"/>
            <a:ext cx="381000" cy="7620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0" tIns="45701" rIns="91400" bIns="45701" rtlCol="0" anchor="ctr"/>
          <a:lstStyle/>
          <a:p>
            <a:pPr algn="ctr"/>
            <a:endParaRPr lang="nl-NL"/>
          </a:p>
        </p:txBody>
      </p:sp>
      <p:pic>
        <p:nvPicPr>
          <p:cNvPr id="4" name="Afbeelding 3" descr="supplemental_figure_S7_completeness.pdf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975"/>
          <a:stretch/>
        </p:blipFill>
        <p:spPr>
          <a:xfrm>
            <a:off x="1447800" y="-304799"/>
            <a:ext cx="6553200" cy="72357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145450" y="6550224"/>
            <a:ext cx="2522550" cy="30777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pPr algn="r"/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Speth </a:t>
            </a:r>
            <a:r>
              <a:rPr lang="pt-BR" sz="1400" i="1" dirty="0">
                <a:solidFill>
                  <a:schemeClr val="bg2">
                    <a:lumMod val="50000"/>
                  </a:schemeClr>
                </a:solidFill>
              </a:rPr>
              <a:t>et al.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Nature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bg2">
                    <a:lumMod val="50000"/>
                  </a:schemeClr>
                </a:solidFill>
              </a:rPr>
              <a:t>Comm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</a:rPr>
              <a:t>. 2016</a:t>
            </a:r>
            <a:endParaRPr lang="nl-NL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010400" y="0"/>
            <a:ext cx="3657600" cy="9590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Single-copy marker genes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7690624" y="1182030"/>
            <a:ext cx="2901176" cy="5675970"/>
          </a:xfrm>
        </p:spPr>
        <p:txBody>
          <a:bodyPr>
            <a:normAutofit/>
          </a:bodyPr>
          <a:lstStyle/>
          <a:p>
            <a:r>
              <a:rPr lang="en-US" dirty="0"/>
              <a:t>Completeness</a:t>
            </a:r>
          </a:p>
          <a:p>
            <a:pPr lvl="1"/>
            <a:r>
              <a:rPr lang="en-US" u="sng" dirty="0"/>
              <a:t>Marker</a:t>
            </a:r>
            <a:r>
              <a:rPr lang="en-US" dirty="0"/>
              <a:t> genes are expected to be present in all bacteria</a:t>
            </a:r>
          </a:p>
          <a:p>
            <a:r>
              <a:rPr lang="en-US" dirty="0"/>
              <a:t>Redundancy</a:t>
            </a:r>
          </a:p>
          <a:p>
            <a:pPr lvl="1"/>
            <a:r>
              <a:rPr lang="en-US" u="sng" dirty="0"/>
              <a:t>Single-copy </a:t>
            </a:r>
            <a:r>
              <a:rPr lang="en-US" dirty="0"/>
              <a:t>genes are expected to be present only once</a:t>
            </a:r>
          </a:p>
        </p:txBody>
      </p:sp>
    </p:spTree>
    <p:extLst>
      <p:ext uri="{BB962C8B-B14F-4D97-AF65-F5344CB8AC3E}">
        <p14:creationId xmlns:p14="http://schemas.microsoft.com/office/powerpoint/2010/main" val="1807166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033F-5419-8DCE-0E44-EEE9D1309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Checkm</a:t>
            </a:r>
            <a:r>
              <a:rPr lang="en-US" dirty="0">
                <a:solidFill>
                  <a:schemeClr val="accent1"/>
                </a:solidFill>
              </a:rPr>
              <a:t>; tool for assessing the quality of genomes</a:t>
            </a:r>
            <a:endParaRPr lang="nl-NL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124396-D74A-ECB1-DA63-49C5C538C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613" t="7084" r="21622" b="18953"/>
          <a:stretch/>
        </p:blipFill>
        <p:spPr>
          <a:xfrm>
            <a:off x="1743959" y="1602557"/>
            <a:ext cx="8177398" cy="480766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E2BAA1-0C76-22B2-3EBB-782C47BA74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732" t="21855" r="32732" b="52028"/>
          <a:stretch/>
        </p:blipFill>
        <p:spPr>
          <a:xfrm>
            <a:off x="397515" y="5363852"/>
            <a:ext cx="1035360" cy="104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06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2262554" y="122268"/>
            <a:ext cx="8686800" cy="768350"/>
          </a:xfrm>
        </p:spPr>
        <p:txBody>
          <a:bodyPr wrap="square">
            <a:spAutoFit/>
          </a:bodyPr>
          <a:lstStyle>
            <a:defPPr lvl="0">
              <a:buNone/>
            </a:defPPr>
            <a:lvl1pPr lvl="0">
              <a:buNone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/>
            <a:r>
              <a:rPr lang="en-US" dirty="0">
                <a:solidFill>
                  <a:schemeClr val="accent1"/>
                </a:solidFill>
              </a:rPr>
              <a:t>Repeats have multiple sinks/sources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1584DB0-117C-774B-8B7F-F7A4D5189831}"/>
              </a:ext>
            </a:extLst>
          </p:cNvPr>
          <p:cNvGrpSpPr/>
          <p:nvPr/>
        </p:nvGrpSpPr>
        <p:grpSpPr>
          <a:xfrm>
            <a:off x="1524001" y="1571332"/>
            <a:ext cx="2460553" cy="1061403"/>
            <a:chOff x="762815" y="1571331"/>
            <a:chExt cx="1697738" cy="1061403"/>
          </a:xfrm>
        </p:grpSpPr>
        <p:sp>
          <p:nvSpPr>
            <p:cNvPr id="3" name="Straight Connector 2"/>
            <p:cNvSpPr/>
            <p:nvPr/>
          </p:nvSpPr>
          <p:spPr>
            <a:xfrm>
              <a:off x="762815" y="1571331"/>
              <a:ext cx="1695127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763467" y="1745510"/>
              <a:ext cx="1695128" cy="16330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6" name="Straight Connector 5"/>
            <p:cNvSpPr/>
            <p:nvPr/>
          </p:nvSpPr>
          <p:spPr>
            <a:xfrm>
              <a:off x="763793" y="1919690"/>
              <a:ext cx="1695128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7" name="Straight Connector 6"/>
            <p:cNvSpPr/>
            <p:nvPr/>
          </p:nvSpPr>
          <p:spPr>
            <a:xfrm>
              <a:off x="764122" y="2093869"/>
              <a:ext cx="1695127" cy="16328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8" name="Straight Connector 7"/>
            <p:cNvSpPr/>
            <p:nvPr/>
          </p:nvSpPr>
          <p:spPr>
            <a:xfrm>
              <a:off x="764448" y="2268047"/>
              <a:ext cx="1695127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9" name="Straight Connector 8"/>
            <p:cNvSpPr/>
            <p:nvPr/>
          </p:nvSpPr>
          <p:spPr>
            <a:xfrm>
              <a:off x="764773" y="2442226"/>
              <a:ext cx="1695128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765427" y="2616405"/>
              <a:ext cx="1695126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</p:grpSp>
      <p:sp>
        <p:nvSpPr>
          <p:cNvPr id="12" name="Straight Connector 11"/>
          <p:cNvSpPr/>
          <p:nvPr/>
        </p:nvSpPr>
        <p:spPr>
          <a:xfrm>
            <a:off x="4389478" y="2076883"/>
            <a:ext cx="3529364" cy="0"/>
          </a:xfrm>
          <a:prstGeom prst="line">
            <a:avLst/>
          </a:prstGeom>
          <a:noFill/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89A1E72-9E52-3A4E-86F1-1280A7B0B738}"/>
              </a:ext>
            </a:extLst>
          </p:cNvPr>
          <p:cNvGrpSpPr/>
          <p:nvPr/>
        </p:nvGrpSpPr>
        <p:grpSpPr>
          <a:xfrm>
            <a:off x="8343362" y="1571332"/>
            <a:ext cx="2324639" cy="1061403"/>
            <a:chOff x="6819361" y="1571331"/>
            <a:chExt cx="1697737" cy="1061403"/>
          </a:xfrm>
        </p:grpSpPr>
        <p:sp>
          <p:nvSpPr>
            <p:cNvPr id="13" name="Straight Connector 12"/>
            <p:cNvSpPr/>
            <p:nvPr/>
          </p:nvSpPr>
          <p:spPr>
            <a:xfrm>
              <a:off x="6819361" y="1571331"/>
              <a:ext cx="1695127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15" name="Straight Connector 14"/>
            <p:cNvSpPr/>
            <p:nvPr/>
          </p:nvSpPr>
          <p:spPr>
            <a:xfrm>
              <a:off x="6820011" y="1745510"/>
              <a:ext cx="1695128" cy="16330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16" name="Straight Connector 15"/>
            <p:cNvSpPr/>
            <p:nvPr/>
          </p:nvSpPr>
          <p:spPr>
            <a:xfrm>
              <a:off x="6820340" y="1919690"/>
              <a:ext cx="1695127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820667" y="2093869"/>
              <a:ext cx="1695127" cy="16328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6820991" y="2268047"/>
              <a:ext cx="1695128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19" name="Straight Connector 18"/>
            <p:cNvSpPr/>
            <p:nvPr/>
          </p:nvSpPr>
          <p:spPr>
            <a:xfrm>
              <a:off x="6821319" y="2442226"/>
              <a:ext cx="1695126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21" name="Straight Connector 20"/>
            <p:cNvSpPr/>
            <p:nvPr/>
          </p:nvSpPr>
          <p:spPr>
            <a:xfrm>
              <a:off x="6821972" y="2616405"/>
              <a:ext cx="1695126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</p:grpSp>
      <p:sp>
        <p:nvSpPr>
          <p:cNvPr id="22" name="Straight Connector 21"/>
          <p:cNvSpPr/>
          <p:nvPr/>
        </p:nvSpPr>
        <p:spPr>
          <a:xfrm>
            <a:off x="7917536" y="2076885"/>
            <a:ext cx="434312" cy="355492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>
            <a:off x="7918844" y="2077540"/>
            <a:ext cx="441823" cy="217287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 flipH="1" flipV="1">
            <a:off x="7919825" y="2075577"/>
            <a:ext cx="425823" cy="1829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 flipH="1">
            <a:off x="7923088" y="1963232"/>
            <a:ext cx="419944" cy="114306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26" name="Straight Connector 25"/>
          <p:cNvSpPr/>
          <p:nvPr/>
        </p:nvSpPr>
        <p:spPr>
          <a:xfrm flipH="1">
            <a:off x="7921128" y="1776017"/>
            <a:ext cx="434312" cy="301195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28" name="Straight Connector 27"/>
          <p:cNvSpPr/>
          <p:nvPr/>
        </p:nvSpPr>
        <p:spPr>
          <a:xfrm flipH="1">
            <a:off x="7921131" y="1571005"/>
            <a:ext cx="423863" cy="506207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3981289" y="1587988"/>
            <a:ext cx="409494" cy="489225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1" name="Straight Connector 30"/>
          <p:cNvSpPr/>
          <p:nvPr/>
        </p:nvSpPr>
        <p:spPr>
          <a:xfrm>
            <a:off x="3980959" y="1772021"/>
            <a:ext cx="412113" cy="304538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2" name="Straight Connector 31"/>
          <p:cNvSpPr/>
          <p:nvPr/>
        </p:nvSpPr>
        <p:spPr>
          <a:xfrm>
            <a:off x="3981943" y="1978584"/>
            <a:ext cx="410475" cy="98629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 flipV="1">
            <a:off x="3983250" y="2078192"/>
            <a:ext cx="411781" cy="32659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4" name="Straight Connector 33"/>
          <p:cNvSpPr/>
          <p:nvPr/>
        </p:nvSpPr>
        <p:spPr>
          <a:xfrm flipV="1">
            <a:off x="4006106" y="2077539"/>
            <a:ext cx="387619" cy="201499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5" name="Straight Connector 34"/>
          <p:cNvSpPr/>
          <p:nvPr/>
        </p:nvSpPr>
        <p:spPr>
          <a:xfrm flipV="1">
            <a:off x="4006106" y="2076885"/>
            <a:ext cx="384027" cy="355163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7" name="Straight Connector 36"/>
          <p:cNvSpPr/>
          <p:nvPr/>
        </p:nvSpPr>
        <p:spPr>
          <a:xfrm flipV="1">
            <a:off x="3981940" y="2077537"/>
            <a:ext cx="408842" cy="555848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9" name="Straight Connector 38"/>
          <p:cNvSpPr/>
          <p:nvPr/>
        </p:nvSpPr>
        <p:spPr>
          <a:xfrm flipH="1" flipV="1">
            <a:off x="7933536" y="2067412"/>
            <a:ext cx="427130" cy="542458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90133" y="2279042"/>
            <a:ext cx="620125" cy="397267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1">
            <a:spAutoFit/>
          </a:bodyPr>
          <a:lstStyle>
            <a:defPPr lvl="0">
              <a:buNone/>
            </a:defPPr>
            <a:lvl1pPr lvl="0">
              <a:buNone/>
            </a:lvl1pPr>
            <a:lvl2pPr lvl="1">
              <a:buClr>
                <a:srgbClr val="000000"/>
              </a:buClr>
              <a:buSzPct val="100000"/>
              <a:buFont typeface="Times New Roman" pitchFamily="17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7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7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7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7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7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7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7"/>
              <a:buChar char="•"/>
            </a:lvl9pPr>
          </a:lstStyle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sz="2200" dirty="0">
                <a:solidFill>
                  <a:srgbClr val="000000"/>
                </a:solidFill>
                <a:latin typeface="Arial" pitchFamily="17"/>
                <a:ea typeface="DejaVu Sans" pitchFamily="2"/>
                <a:cs typeface="DejaVu Sans" pitchFamily="2"/>
              </a:rPr>
              <a:t>16s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643CA5E-3574-8542-AAA8-780F6B64D987}"/>
              </a:ext>
            </a:extLst>
          </p:cNvPr>
          <p:cNvGrpSpPr/>
          <p:nvPr/>
        </p:nvGrpSpPr>
        <p:grpSpPr>
          <a:xfrm>
            <a:off x="2666457" y="3378331"/>
            <a:ext cx="7911072" cy="3045355"/>
            <a:chOff x="1232931" y="3981619"/>
            <a:chExt cx="7911072" cy="3045355"/>
          </a:xfrm>
        </p:grpSpPr>
        <p:pic>
          <p:nvPicPr>
            <p:cNvPr id="45" name="Picture 44" descr="A screenshot of a social media post&#10;&#10;Description automatically generated">
              <a:extLst>
                <a:ext uri="{FF2B5EF4-FFF2-40B4-BE49-F238E27FC236}">
                  <a16:creationId xmlns:a16="http://schemas.microsoft.com/office/drawing/2014/main" id="{2F4F4E2D-1583-C548-A7ED-2F603CC77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380695">
              <a:off x="1232931" y="3981619"/>
              <a:ext cx="6486525" cy="304535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3" name="TextBox 42"/>
            <p:cNvSpPr txBox="1"/>
            <p:nvPr/>
          </p:nvSpPr>
          <p:spPr>
            <a:xfrm>
              <a:off x="7029451" y="6565293"/>
              <a:ext cx="2114552" cy="2927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>
              <a:spAutoFit/>
            </a:bodyPr>
            <a:lstStyle>
              <a:defPPr lvl="0">
                <a:buNone/>
              </a:defPPr>
              <a:lvl1pPr lvl="0">
                <a:buNone/>
              </a:lvl1pPr>
              <a:lvl2pPr lvl="1">
                <a:buClr>
                  <a:srgbClr val="000000"/>
                </a:buClr>
                <a:buSzPct val="100000"/>
                <a:buFont typeface="Times New Roman" pitchFamily="17"/>
                <a:buChar char="•"/>
              </a:lvl2pPr>
              <a:lvl3pPr lvl="2">
                <a:buClr>
                  <a:srgbClr val="000000"/>
                </a:buClr>
                <a:buSzPct val="100000"/>
                <a:buFont typeface="Times New Roman" pitchFamily="17"/>
                <a:buChar char="•"/>
              </a:lvl3pPr>
              <a:lvl4pPr lvl="3">
                <a:buClr>
                  <a:srgbClr val="000000"/>
                </a:buClr>
                <a:buSzPct val="100000"/>
                <a:buFont typeface="Times New Roman" pitchFamily="17"/>
                <a:buChar char="•"/>
              </a:lvl4pPr>
              <a:lvl5pPr lvl="4">
                <a:buClr>
                  <a:srgbClr val="000000"/>
                </a:buClr>
                <a:buSzPct val="100000"/>
                <a:buFont typeface="Times New Roman" pitchFamily="17"/>
                <a:buChar char="•"/>
              </a:lvl5pPr>
              <a:lvl6pPr lvl="5">
                <a:buClr>
                  <a:srgbClr val="000000"/>
                </a:buClr>
                <a:buSzPct val="100000"/>
                <a:buFont typeface="Times New Roman" pitchFamily="17"/>
                <a:buChar char="•"/>
              </a:lvl6pPr>
              <a:lvl7pPr lvl="6">
                <a:buClr>
                  <a:srgbClr val="000000"/>
                </a:buClr>
                <a:buSzPct val="100000"/>
                <a:buFont typeface="Times New Roman" pitchFamily="17"/>
                <a:buChar char="•"/>
              </a:lvl7pPr>
              <a:lvl8pPr lvl="7">
                <a:buClr>
                  <a:srgbClr val="000000"/>
                </a:buClr>
                <a:buSzPct val="100000"/>
                <a:buFont typeface="Times New Roman" pitchFamily="17"/>
                <a:buChar char="•"/>
              </a:lvl8pPr>
              <a:lvl9pPr lvl="8">
                <a:buClr>
                  <a:srgbClr val="000000"/>
                </a:buClr>
                <a:buSzPct val="100000"/>
                <a:buFont typeface="Times New Roman" pitchFamily="17"/>
                <a:buChar char="•"/>
              </a:lvl9pPr>
            </a:lstStyle>
            <a:p>
              <a:pPr algn="r">
                <a:lnSpc>
                  <a:spcPct val="93000"/>
                </a:lnSpc>
                <a:tabLst>
                  <a:tab pos="0" algn="l"/>
                  <a:tab pos="414726" algn="l"/>
                  <a:tab pos="829452" algn="l"/>
                  <a:tab pos="1244177" algn="l"/>
                  <a:tab pos="1658904" algn="l"/>
                  <a:tab pos="2073630" algn="l"/>
                  <a:tab pos="2488356" algn="l"/>
                  <a:tab pos="2903083" algn="l"/>
                  <a:tab pos="3317809" algn="l"/>
                  <a:tab pos="3732534" algn="l"/>
                  <a:tab pos="4147260" algn="l"/>
                  <a:tab pos="4561987" algn="l"/>
                  <a:tab pos="4976713" algn="l"/>
                  <a:tab pos="5391440" algn="l"/>
                  <a:tab pos="5806165" algn="l"/>
                  <a:tab pos="6220892" algn="l"/>
                  <a:tab pos="6635618" algn="l"/>
                  <a:tab pos="7050343" algn="l"/>
                  <a:tab pos="7465069" algn="l"/>
                  <a:tab pos="7879796" algn="l"/>
                  <a:tab pos="8294521" algn="l"/>
                </a:tabLst>
              </a:pPr>
              <a:r>
                <a:rPr lang="en-US" sz="1400" dirty="0">
                  <a:solidFill>
                    <a:srgbClr val="EEECE1">
                      <a:lumMod val="50000"/>
                    </a:srgbClr>
                  </a:solidFill>
                </a:rPr>
                <a:t>Helm </a:t>
              </a:r>
              <a:r>
                <a:rPr lang="en-US" sz="1400" i="1" dirty="0">
                  <a:solidFill>
                    <a:srgbClr val="EEECE1">
                      <a:lumMod val="50000"/>
                    </a:srgbClr>
                  </a:solidFill>
                </a:rPr>
                <a:t>et al.</a:t>
              </a:r>
              <a:r>
                <a:rPr lang="en-US" sz="1400" dirty="0">
                  <a:solidFill>
                    <a:srgbClr val="EEECE1">
                      <a:lumMod val="50000"/>
                    </a:srgbClr>
                  </a:solidFill>
                </a:rPr>
                <a:t>, </a:t>
              </a:r>
              <a:r>
                <a:rPr lang="en-US" sz="1400" i="1" dirty="0">
                  <a:solidFill>
                    <a:srgbClr val="EEECE1">
                      <a:lumMod val="50000"/>
                    </a:srgbClr>
                  </a:solidFill>
                </a:rPr>
                <a:t>Genetics</a:t>
              </a:r>
              <a:r>
                <a:rPr lang="en-US" sz="1400" dirty="0">
                  <a:solidFill>
                    <a:srgbClr val="EEECE1">
                      <a:lumMod val="50000"/>
                    </a:srgbClr>
                  </a:solidFill>
                </a:rPr>
                <a:t> 2003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01982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2262554" y="122268"/>
            <a:ext cx="8686800" cy="768350"/>
          </a:xfrm>
        </p:spPr>
        <p:txBody>
          <a:bodyPr wrap="square">
            <a:spAutoFit/>
          </a:bodyPr>
          <a:lstStyle>
            <a:defPPr lvl="0">
              <a:buNone/>
            </a:defPPr>
            <a:lvl1pPr lvl="0">
              <a:buNone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/>
            <a:r>
              <a:rPr lang="en-US" dirty="0">
                <a:solidFill>
                  <a:schemeClr val="accent1"/>
                </a:solidFill>
              </a:rPr>
              <a:t>Repeats have multiple sinks/sources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1584DB0-117C-774B-8B7F-F7A4D5189831}"/>
              </a:ext>
            </a:extLst>
          </p:cNvPr>
          <p:cNvGrpSpPr/>
          <p:nvPr/>
        </p:nvGrpSpPr>
        <p:grpSpPr>
          <a:xfrm>
            <a:off x="1524001" y="1571332"/>
            <a:ext cx="2460553" cy="1061403"/>
            <a:chOff x="762815" y="1571331"/>
            <a:chExt cx="1697738" cy="1061403"/>
          </a:xfrm>
        </p:grpSpPr>
        <p:sp>
          <p:nvSpPr>
            <p:cNvPr id="3" name="Straight Connector 2"/>
            <p:cNvSpPr/>
            <p:nvPr/>
          </p:nvSpPr>
          <p:spPr>
            <a:xfrm>
              <a:off x="762815" y="1571331"/>
              <a:ext cx="1695127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763467" y="1745510"/>
              <a:ext cx="1695128" cy="16330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6" name="Straight Connector 5"/>
            <p:cNvSpPr/>
            <p:nvPr/>
          </p:nvSpPr>
          <p:spPr>
            <a:xfrm>
              <a:off x="763793" y="1919690"/>
              <a:ext cx="1695128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7" name="Straight Connector 6"/>
            <p:cNvSpPr/>
            <p:nvPr/>
          </p:nvSpPr>
          <p:spPr>
            <a:xfrm>
              <a:off x="764122" y="2093869"/>
              <a:ext cx="1695127" cy="16328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8" name="Straight Connector 7"/>
            <p:cNvSpPr/>
            <p:nvPr/>
          </p:nvSpPr>
          <p:spPr>
            <a:xfrm>
              <a:off x="764448" y="2268047"/>
              <a:ext cx="1695127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9" name="Straight Connector 8"/>
            <p:cNvSpPr/>
            <p:nvPr/>
          </p:nvSpPr>
          <p:spPr>
            <a:xfrm>
              <a:off x="764773" y="2442226"/>
              <a:ext cx="1695128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765427" y="2616405"/>
              <a:ext cx="1695126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</p:grpSp>
      <p:sp>
        <p:nvSpPr>
          <p:cNvPr id="12" name="Straight Connector 11"/>
          <p:cNvSpPr/>
          <p:nvPr/>
        </p:nvSpPr>
        <p:spPr>
          <a:xfrm>
            <a:off x="4389478" y="2076883"/>
            <a:ext cx="3529364" cy="0"/>
          </a:xfrm>
          <a:prstGeom prst="line">
            <a:avLst/>
          </a:prstGeom>
          <a:noFill/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89A1E72-9E52-3A4E-86F1-1280A7B0B738}"/>
              </a:ext>
            </a:extLst>
          </p:cNvPr>
          <p:cNvGrpSpPr/>
          <p:nvPr/>
        </p:nvGrpSpPr>
        <p:grpSpPr>
          <a:xfrm>
            <a:off x="8343362" y="1571332"/>
            <a:ext cx="2324639" cy="1061403"/>
            <a:chOff x="6819361" y="1571331"/>
            <a:chExt cx="1697737" cy="1061403"/>
          </a:xfrm>
        </p:grpSpPr>
        <p:sp>
          <p:nvSpPr>
            <p:cNvPr id="13" name="Straight Connector 12"/>
            <p:cNvSpPr/>
            <p:nvPr/>
          </p:nvSpPr>
          <p:spPr>
            <a:xfrm>
              <a:off x="6819361" y="1571331"/>
              <a:ext cx="1695127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15" name="Straight Connector 14"/>
            <p:cNvSpPr/>
            <p:nvPr/>
          </p:nvSpPr>
          <p:spPr>
            <a:xfrm>
              <a:off x="6820011" y="1745510"/>
              <a:ext cx="1695128" cy="16330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16" name="Straight Connector 15"/>
            <p:cNvSpPr/>
            <p:nvPr/>
          </p:nvSpPr>
          <p:spPr>
            <a:xfrm>
              <a:off x="6820340" y="1919690"/>
              <a:ext cx="1695127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820667" y="2093869"/>
              <a:ext cx="1695127" cy="16328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6820991" y="2268047"/>
              <a:ext cx="1695128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19" name="Straight Connector 18"/>
            <p:cNvSpPr/>
            <p:nvPr/>
          </p:nvSpPr>
          <p:spPr>
            <a:xfrm>
              <a:off x="6821319" y="2442226"/>
              <a:ext cx="1695126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  <p:sp>
          <p:nvSpPr>
            <p:cNvPr id="21" name="Straight Connector 20"/>
            <p:cNvSpPr/>
            <p:nvPr/>
          </p:nvSpPr>
          <p:spPr>
            <a:xfrm>
              <a:off x="6821972" y="2616405"/>
              <a:ext cx="1695126" cy="16329"/>
            </a:xfrm>
            <a:prstGeom prst="line">
              <a:avLst/>
            </a:prstGeom>
            <a:noFill/>
            <a:ln w="25400">
              <a:solidFill>
                <a:schemeClr val="accent1">
                  <a:shade val="50000"/>
                </a:schemeClr>
              </a:solidFill>
              <a:prstDash val="solid"/>
            </a:ln>
          </p:spPr>
          <p:txBody>
            <a:bodyPr vert="horz" wrap="none" lIns="0" tIns="0" rIns="0" bIns="0" anchor="ctr" anchorCtr="1" compatLnSpc="0"/>
            <a:lstStyle/>
            <a:p>
              <a:pPr hangingPunct="0"/>
              <a:endParaRPr lang="en-US" sz="22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endParaRPr>
            </a:p>
          </p:txBody>
        </p:sp>
      </p:grpSp>
      <p:sp>
        <p:nvSpPr>
          <p:cNvPr id="22" name="Straight Connector 21"/>
          <p:cNvSpPr/>
          <p:nvPr/>
        </p:nvSpPr>
        <p:spPr>
          <a:xfrm>
            <a:off x="7917536" y="2076885"/>
            <a:ext cx="434312" cy="355492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23" name="Straight Connector 22"/>
          <p:cNvSpPr/>
          <p:nvPr/>
        </p:nvSpPr>
        <p:spPr>
          <a:xfrm>
            <a:off x="7918844" y="2077540"/>
            <a:ext cx="441823" cy="217287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24" name="Straight Connector 23"/>
          <p:cNvSpPr/>
          <p:nvPr/>
        </p:nvSpPr>
        <p:spPr>
          <a:xfrm flipH="1" flipV="1">
            <a:off x="7919825" y="2075577"/>
            <a:ext cx="425823" cy="1829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25" name="Straight Connector 24"/>
          <p:cNvSpPr/>
          <p:nvPr/>
        </p:nvSpPr>
        <p:spPr>
          <a:xfrm flipH="1">
            <a:off x="7923088" y="1963232"/>
            <a:ext cx="419944" cy="114306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26" name="Straight Connector 25"/>
          <p:cNvSpPr/>
          <p:nvPr/>
        </p:nvSpPr>
        <p:spPr>
          <a:xfrm flipH="1">
            <a:off x="7921128" y="1776017"/>
            <a:ext cx="434312" cy="301195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28" name="Straight Connector 27"/>
          <p:cNvSpPr/>
          <p:nvPr/>
        </p:nvSpPr>
        <p:spPr>
          <a:xfrm flipH="1">
            <a:off x="7921131" y="1571005"/>
            <a:ext cx="423863" cy="506207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3981289" y="1587988"/>
            <a:ext cx="409494" cy="489225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1" name="Straight Connector 30"/>
          <p:cNvSpPr/>
          <p:nvPr/>
        </p:nvSpPr>
        <p:spPr>
          <a:xfrm>
            <a:off x="3980959" y="1772021"/>
            <a:ext cx="412113" cy="304538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2" name="Straight Connector 31"/>
          <p:cNvSpPr/>
          <p:nvPr/>
        </p:nvSpPr>
        <p:spPr>
          <a:xfrm>
            <a:off x="3981943" y="1978584"/>
            <a:ext cx="410475" cy="98629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3" name="Straight Connector 32"/>
          <p:cNvSpPr/>
          <p:nvPr/>
        </p:nvSpPr>
        <p:spPr>
          <a:xfrm flipV="1">
            <a:off x="3983250" y="2078192"/>
            <a:ext cx="411781" cy="32659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4" name="Straight Connector 33"/>
          <p:cNvSpPr/>
          <p:nvPr/>
        </p:nvSpPr>
        <p:spPr>
          <a:xfrm flipV="1">
            <a:off x="4006106" y="2077539"/>
            <a:ext cx="387619" cy="201499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5" name="Straight Connector 34"/>
          <p:cNvSpPr/>
          <p:nvPr/>
        </p:nvSpPr>
        <p:spPr>
          <a:xfrm flipV="1">
            <a:off x="4006106" y="2076885"/>
            <a:ext cx="384027" cy="355163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7" name="Straight Connector 36"/>
          <p:cNvSpPr/>
          <p:nvPr/>
        </p:nvSpPr>
        <p:spPr>
          <a:xfrm flipV="1">
            <a:off x="3981940" y="2077537"/>
            <a:ext cx="408842" cy="555848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9" name="Straight Connector 38"/>
          <p:cNvSpPr/>
          <p:nvPr/>
        </p:nvSpPr>
        <p:spPr>
          <a:xfrm flipH="1" flipV="1">
            <a:off x="7933536" y="2067412"/>
            <a:ext cx="427130" cy="542458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wrap="none" lIns="0" tIns="0" rIns="0" bIns="0" anchor="ctr" anchorCtr="1" compatLnSpc="0"/>
          <a:lstStyle/>
          <a:p>
            <a:pPr hangingPunct="0"/>
            <a:endParaRPr lang="en-US" sz="2200" dirty="0">
              <a:solidFill>
                <a:prstClr val="black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03539" y="1678310"/>
            <a:ext cx="3258668" cy="397267"/>
          </a:xfrm>
          <a:prstGeom prst="rect">
            <a:avLst/>
          </a:prstGeom>
          <a:noFill/>
          <a:ln>
            <a:noFill/>
          </a:ln>
        </p:spPr>
        <p:txBody>
          <a:bodyPr vert="horz" wrap="none" lIns="81639" tIns="40820" rIns="81639" bIns="40820" anchorCtr="0" compatLnSpc="1">
            <a:spAutoFit/>
          </a:bodyPr>
          <a:lstStyle>
            <a:defPPr lvl="0">
              <a:buNone/>
            </a:defPPr>
            <a:lvl1pPr lvl="0">
              <a:buNone/>
            </a:lvl1pPr>
            <a:lvl2pPr lvl="1">
              <a:buClr>
                <a:srgbClr val="000000"/>
              </a:buClr>
              <a:buSzPct val="100000"/>
              <a:buFont typeface="Times New Roman" pitchFamily="17"/>
              <a:buChar char="•"/>
            </a:lvl2pPr>
            <a:lvl3pPr lvl="2">
              <a:buClr>
                <a:srgbClr val="000000"/>
              </a:buClr>
              <a:buSzPct val="100000"/>
              <a:buFont typeface="Times New Roman" pitchFamily="17"/>
              <a:buChar char="•"/>
            </a:lvl3pPr>
            <a:lvl4pPr lvl="3">
              <a:buClr>
                <a:srgbClr val="000000"/>
              </a:buClr>
              <a:buSzPct val="100000"/>
              <a:buFont typeface="Times New Roman" pitchFamily="17"/>
              <a:buChar char="•"/>
            </a:lvl4pPr>
            <a:lvl5pPr lvl="4">
              <a:buClr>
                <a:srgbClr val="000000"/>
              </a:buClr>
              <a:buSzPct val="100000"/>
              <a:buFont typeface="Times New Roman" pitchFamily="17"/>
              <a:buChar char="•"/>
            </a:lvl5pPr>
            <a:lvl6pPr lvl="5">
              <a:buClr>
                <a:srgbClr val="000000"/>
              </a:buClr>
              <a:buSzPct val="100000"/>
              <a:buFont typeface="Times New Roman" pitchFamily="17"/>
              <a:buChar char="•"/>
            </a:lvl6pPr>
            <a:lvl7pPr lvl="6">
              <a:buClr>
                <a:srgbClr val="000000"/>
              </a:buClr>
              <a:buSzPct val="100000"/>
              <a:buFont typeface="Times New Roman" pitchFamily="17"/>
              <a:buChar char="•"/>
            </a:lvl7pPr>
            <a:lvl8pPr lvl="7">
              <a:buClr>
                <a:srgbClr val="000000"/>
              </a:buClr>
              <a:buSzPct val="100000"/>
              <a:buFont typeface="Times New Roman" pitchFamily="17"/>
              <a:buChar char="•"/>
            </a:lvl8pPr>
            <a:lvl9pPr lvl="8">
              <a:buClr>
                <a:srgbClr val="000000"/>
              </a:buClr>
              <a:buSzPct val="100000"/>
              <a:buFont typeface="Times New Roman" pitchFamily="17"/>
              <a:buChar char="•"/>
            </a:lvl9pPr>
          </a:lstStyle>
          <a:p>
            <a:pPr hangingPunct="0">
              <a:lnSpc>
                <a:spcPct val="93000"/>
              </a:lnSpc>
              <a:tabLst>
                <a:tab pos="0" algn="l"/>
                <a:tab pos="414726" algn="l"/>
                <a:tab pos="829452" algn="l"/>
                <a:tab pos="1244177" algn="l"/>
                <a:tab pos="1658904" algn="l"/>
                <a:tab pos="2073630" algn="l"/>
                <a:tab pos="2488356" algn="l"/>
                <a:tab pos="2903083" algn="l"/>
                <a:tab pos="3317809" algn="l"/>
                <a:tab pos="3732534" algn="l"/>
                <a:tab pos="4147260" algn="l"/>
                <a:tab pos="4561987" algn="l"/>
                <a:tab pos="4976713" algn="l"/>
                <a:tab pos="5391440" algn="l"/>
                <a:tab pos="5806165" algn="l"/>
                <a:tab pos="6220892" algn="l"/>
                <a:tab pos="6635618" algn="l"/>
                <a:tab pos="7050343" algn="l"/>
                <a:tab pos="7465069" algn="l"/>
                <a:tab pos="7879796" algn="l"/>
                <a:tab pos="8294521" algn="l"/>
              </a:tabLst>
            </a:pPr>
            <a:r>
              <a:rPr lang="en-US" sz="2200" dirty="0">
                <a:solidFill>
                  <a:srgbClr val="000000"/>
                </a:solidFill>
                <a:latin typeface="Arial" pitchFamily="17"/>
                <a:ea typeface="DejaVu Sans" pitchFamily="2"/>
                <a:cs typeface="DejaVu Sans" pitchFamily="2"/>
              </a:rPr>
              <a:t>16s/transposons/repeats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643CA5E-3574-8542-AAA8-780F6B64D987}"/>
              </a:ext>
            </a:extLst>
          </p:cNvPr>
          <p:cNvGrpSpPr/>
          <p:nvPr/>
        </p:nvGrpSpPr>
        <p:grpSpPr>
          <a:xfrm>
            <a:off x="2666457" y="3378331"/>
            <a:ext cx="7911072" cy="3045355"/>
            <a:chOff x="1232931" y="3981619"/>
            <a:chExt cx="7911072" cy="3045355"/>
          </a:xfrm>
        </p:grpSpPr>
        <p:pic>
          <p:nvPicPr>
            <p:cNvPr id="45" name="Picture 44" descr="A screenshot of a social media post&#10;&#10;Description automatically generated">
              <a:extLst>
                <a:ext uri="{FF2B5EF4-FFF2-40B4-BE49-F238E27FC236}">
                  <a16:creationId xmlns:a16="http://schemas.microsoft.com/office/drawing/2014/main" id="{2F4F4E2D-1583-C548-A7ED-2F603CC77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380695">
              <a:off x="1232931" y="3981619"/>
              <a:ext cx="6486525" cy="304535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3" name="TextBox 42"/>
            <p:cNvSpPr txBox="1"/>
            <p:nvPr/>
          </p:nvSpPr>
          <p:spPr>
            <a:xfrm>
              <a:off x="7029451" y="6565293"/>
              <a:ext cx="2114552" cy="2927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>
              <a:spAutoFit/>
            </a:bodyPr>
            <a:lstStyle>
              <a:defPPr lvl="0">
                <a:buNone/>
              </a:defPPr>
              <a:lvl1pPr lvl="0">
                <a:buNone/>
              </a:lvl1pPr>
              <a:lvl2pPr lvl="1">
                <a:buClr>
                  <a:srgbClr val="000000"/>
                </a:buClr>
                <a:buSzPct val="100000"/>
                <a:buFont typeface="Times New Roman" pitchFamily="17"/>
                <a:buChar char="•"/>
              </a:lvl2pPr>
              <a:lvl3pPr lvl="2">
                <a:buClr>
                  <a:srgbClr val="000000"/>
                </a:buClr>
                <a:buSzPct val="100000"/>
                <a:buFont typeface="Times New Roman" pitchFamily="17"/>
                <a:buChar char="•"/>
              </a:lvl3pPr>
              <a:lvl4pPr lvl="3">
                <a:buClr>
                  <a:srgbClr val="000000"/>
                </a:buClr>
                <a:buSzPct val="100000"/>
                <a:buFont typeface="Times New Roman" pitchFamily="17"/>
                <a:buChar char="•"/>
              </a:lvl4pPr>
              <a:lvl5pPr lvl="4">
                <a:buClr>
                  <a:srgbClr val="000000"/>
                </a:buClr>
                <a:buSzPct val="100000"/>
                <a:buFont typeface="Times New Roman" pitchFamily="17"/>
                <a:buChar char="•"/>
              </a:lvl5pPr>
              <a:lvl6pPr lvl="5">
                <a:buClr>
                  <a:srgbClr val="000000"/>
                </a:buClr>
                <a:buSzPct val="100000"/>
                <a:buFont typeface="Times New Roman" pitchFamily="17"/>
                <a:buChar char="•"/>
              </a:lvl6pPr>
              <a:lvl7pPr lvl="6">
                <a:buClr>
                  <a:srgbClr val="000000"/>
                </a:buClr>
                <a:buSzPct val="100000"/>
                <a:buFont typeface="Times New Roman" pitchFamily="17"/>
                <a:buChar char="•"/>
              </a:lvl7pPr>
              <a:lvl8pPr lvl="7">
                <a:buClr>
                  <a:srgbClr val="000000"/>
                </a:buClr>
                <a:buSzPct val="100000"/>
                <a:buFont typeface="Times New Roman" pitchFamily="17"/>
                <a:buChar char="•"/>
              </a:lvl8pPr>
              <a:lvl9pPr lvl="8">
                <a:buClr>
                  <a:srgbClr val="000000"/>
                </a:buClr>
                <a:buSzPct val="100000"/>
                <a:buFont typeface="Times New Roman" pitchFamily="17"/>
                <a:buChar char="•"/>
              </a:lvl9pPr>
            </a:lstStyle>
            <a:p>
              <a:pPr algn="r">
                <a:lnSpc>
                  <a:spcPct val="93000"/>
                </a:lnSpc>
                <a:tabLst>
                  <a:tab pos="0" algn="l"/>
                  <a:tab pos="414726" algn="l"/>
                  <a:tab pos="829452" algn="l"/>
                  <a:tab pos="1244177" algn="l"/>
                  <a:tab pos="1658904" algn="l"/>
                  <a:tab pos="2073630" algn="l"/>
                  <a:tab pos="2488356" algn="l"/>
                  <a:tab pos="2903083" algn="l"/>
                  <a:tab pos="3317809" algn="l"/>
                  <a:tab pos="3732534" algn="l"/>
                  <a:tab pos="4147260" algn="l"/>
                  <a:tab pos="4561987" algn="l"/>
                  <a:tab pos="4976713" algn="l"/>
                  <a:tab pos="5391440" algn="l"/>
                  <a:tab pos="5806165" algn="l"/>
                  <a:tab pos="6220892" algn="l"/>
                  <a:tab pos="6635618" algn="l"/>
                  <a:tab pos="7050343" algn="l"/>
                  <a:tab pos="7465069" algn="l"/>
                  <a:tab pos="7879796" algn="l"/>
                  <a:tab pos="8294521" algn="l"/>
                </a:tabLst>
              </a:pPr>
              <a:r>
                <a:rPr lang="en-US" sz="1400" dirty="0">
                  <a:solidFill>
                    <a:srgbClr val="EEECE1">
                      <a:lumMod val="50000"/>
                    </a:srgbClr>
                  </a:solidFill>
                </a:rPr>
                <a:t>Helm </a:t>
              </a:r>
              <a:r>
                <a:rPr lang="en-US" sz="1400" i="1" dirty="0">
                  <a:solidFill>
                    <a:srgbClr val="EEECE1">
                      <a:lumMod val="50000"/>
                    </a:srgbClr>
                  </a:solidFill>
                </a:rPr>
                <a:t>et al.</a:t>
              </a:r>
              <a:r>
                <a:rPr lang="en-US" sz="1400" dirty="0">
                  <a:solidFill>
                    <a:srgbClr val="EEECE1">
                      <a:lumMod val="50000"/>
                    </a:srgbClr>
                  </a:solidFill>
                </a:rPr>
                <a:t>, </a:t>
              </a:r>
              <a:r>
                <a:rPr lang="en-US" sz="1400" i="1" dirty="0">
                  <a:solidFill>
                    <a:srgbClr val="EEECE1">
                      <a:lumMod val="50000"/>
                    </a:srgbClr>
                  </a:solidFill>
                </a:rPr>
                <a:t>Genetics</a:t>
              </a:r>
              <a:r>
                <a:rPr lang="en-US" sz="1400" dirty="0">
                  <a:solidFill>
                    <a:srgbClr val="EEECE1">
                      <a:lumMod val="50000"/>
                    </a:srgbClr>
                  </a:solidFill>
                </a:rPr>
                <a:t> 2003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B743D4-C512-5A90-7F74-D89E5F3110AB}"/>
              </a:ext>
            </a:extLst>
          </p:cNvPr>
          <p:cNvCxnSpPr/>
          <p:nvPr/>
        </p:nvCxnSpPr>
        <p:spPr>
          <a:xfrm>
            <a:off x="4066855" y="1254310"/>
            <a:ext cx="498161" cy="164253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A64A28-4515-EB59-C5BF-1D9191902FBD}"/>
              </a:ext>
            </a:extLst>
          </p:cNvPr>
          <p:cNvCxnSpPr/>
          <p:nvPr/>
        </p:nvCxnSpPr>
        <p:spPr>
          <a:xfrm>
            <a:off x="7734184" y="1180161"/>
            <a:ext cx="498161" cy="164253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869B91F1-A96C-81ED-8F18-1AE341FE1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169050">
            <a:off x="3447334" y="929482"/>
            <a:ext cx="592566" cy="53496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31CC7DE-5C36-A985-7144-C042B93F6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169050">
            <a:off x="7114640" y="839979"/>
            <a:ext cx="592566" cy="53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897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514F5-A5CC-984A-9233-C41159F2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17"/>
            <a:ext cx="12192000" cy="1143000"/>
          </a:xfrm>
        </p:spPr>
        <p:txBody>
          <a:bodyPr>
            <a:normAutofit/>
          </a:bodyPr>
          <a:lstStyle/>
          <a:p>
            <a:pPr algn="ctr"/>
            <a:r>
              <a:rPr lang="nl-NL" dirty="0" err="1">
                <a:solidFill>
                  <a:schemeClr val="accent1"/>
                </a:solidFill>
              </a:rPr>
              <a:t>Long-read</a:t>
            </a:r>
            <a:r>
              <a:rPr lang="nl-NL" dirty="0"/>
              <a:t> </a:t>
            </a:r>
            <a:r>
              <a:rPr lang="nl-NL" dirty="0" err="1">
                <a:solidFill>
                  <a:schemeClr val="accent1"/>
                </a:solidFill>
              </a:rPr>
              <a:t>sequencing</a:t>
            </a:r>
            <a:endParaRPr lang="nl-NL" dirty="0">
              <a:solidFill>
                <a:schemeClr val="accent1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64FC867-FE5C-3A42-974B-01928A307C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84"/>
          <a:stretch/>
        </p:blipFill>
        <p:spPr bwMode="auto">
          <a:xfrm>
            <a:off x="1602706" y="1202844"/>
            <a:ext cx="5497813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349B49-98F9-7C49-96E7-B984EC3E61BC}"/>
              </a:ext>
            </a:extLst>
          </p:cNvPr>
          <p:cNvSpPr txBox="1"/>
          <p:nvPr/>
        </p:nvSpPr>
        <p:spPr>
          <a:xfrm>
            <a:off x="7206434" y="1202844"/>
            <a:ext cx="46960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short reads: </a:t>
            </a:r>
            <a:r>
              <a:rPr lang="en-US" sz="2400" dirty="0" err="1"/>
              <a:t>contig</a:t>
            </a:r>
            <a:r>
              <a:rPr lang="en-US" sz="2400" dirty="0"/>
              <a:t> breaks</a:t>
            </a:r>
          </a:p>
          <a:p>
            <a:endParaRPr lang="en-US" sz="2400" dirty="0"/>
          </a:p>
          <a:p>
            <a:r>
              <a:rPr lang="en-US" sz="2400" dirty="0"/>
              <a:t>long reads span repeats</a:t>
            </a:r>
            <a:endParaRPr lang="nl-NL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resulting in complete assemblies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Recognizing what is plasmid</a:t>
            </a:r>
          </a:p>
          <a:p>
            <a:r>
              <a:rPr lang="en-US" sz="2400" dirty="0"/>
              <a:t>and what is chromosomal DNA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D45E18-1C86-964D-A4DA-D54E9EA7B642}"/>
              </a:ext>
            </a:extLst>
          </p:cNvPr>
          <p:cNvSpPr txBox="1"/>
          <p:nvPr/>
        </p:nvSpPr>
        <p:spPr>
          <a:xfrm>
            <a:off x="2053641" y="5698698"/>
            <a:ext cx="2074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short read assembly</a:t>
            </a:r>
            <a:endParaRPr lang="nl-NL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6DE752EB-9C00-374F-AE5F-EEEB84EFD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303" y="3435092"/>
            <a:ext cx="5544616" cy="2131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A5A9C6-03CD-8042-989E-DEF9BE82D3F0}"/>
              </a:ext>
            </a:extLst>
          </p:cNvPr>
          <p:cNvSpPr txBox="1"/>
          <p:nvPr/>
        </p:nvSpPr>
        <p:spPr>
          <a:xfrm>
            <a:off x="5366008" y="5713182"/>
            <a:ext cx="1989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long read assembly</a:t>
            </a:r>
            <a:endParaRPr lang="nl-N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883AD8-651B-4D46-A89D-F1633F8B5E4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0" t="19912" r="60667" b="21031"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21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514F5-A5CC-984A-9233-C41159F2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469"/>
            <a:ext cx="12192000" cy="1143000"/>
          </a:xfrm>
        </p:spPr>
        <p:txBody>
          <a:bodyPr>
            <a:normAutofit/>
          </a:bodyPr>
          <a:lstStyle/>
          <a:p>
            <a:pPr algn="ctr"/>
            <a:r>
              <a:rPr lang="nl-NL" sz="4000" dirty="0" err="1">
                <a:solidFill>
                  <a:schemeClr val="accent1"/>
                </a:solidFill>
              </a:rPr>
              <a:t>Hybrid</a:t>
            </a:r>
            <a:r>
              <a:rPr lang="nl-NL" sz="4000" dirty="0">
                <a:solidFill>
                  <a:schemeClr val="accent1"/>
                </a:solidFill>
              </a:rPr>
              <a:t> </a:t>
            </a:r>
            <a:r>
              <a:rPr lang="nl-NL" sz="4000" dirty="0" err="1">
                <a:solidFill>
                  <a:schemeClr val="accent1"/>
                </a:solidFill>
              </a:rPr>
              <a:t>assembly</a:t>
            </a:r>
            <a:endParaRPr lang="nl-NL" sz="4000" dirty="0">
              <a:solidFill>
                <a:schemeClr val="accent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883AD8-651B-4D46-A89D-F1633F8B5E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0" t="19912" r="60667" b="21031"/>
          <a:stretch/>
        </p:blipFill>
        <p:spPr>
          <a:xfrm>
            <a:off x="11064684" y="6093376"/>
            <a:ext cx="1008000" cy="7200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E777AB-4766-6C2B-C049-EB1EF6867E0B}"/>
              </a:ext>
            </a:extLst>
          </p:cNvPr>
          <p:cNvCxnSpPr>
            <a:cxnSpLocks/>
          </p:cNvCxnSpPr>
          <p:nvPr/>
        </p:nvCxnSpPr>
        <p:spPr>
          <a:xfrm flipV="1">
            <a:off x="1473958" y="1719617"/>
            <a:ext cx="881645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36C83CA-0001-49C1-00A7-AF5828C851E3}"/>
              </a:ext>
            </a:extLst>
          </p:cNvPr>
          <p:cNvSpPr/>
          <p:nvPr/>
        </p:nvSpPr>
        <p:spPr>
          <a:xfrm>
            <a:off x="2470245" y="1542197"/>
            <a:ext cx="982639" cy="368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871EDA-F861-025D-47E1-E46D281D88CE}"/>
              </a:ext>
            </a:extLst>
          </p:cNvPr>
          <p:cNvSpPr/>
          <p:nvPr/>
        </p:nvSpPr>
        <p:spPr>
          <a:xfrm>
            <a:off x="3605284" y="1542197"/>
            <a:ext cx="982639" cy="368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3922C0-F769-FBBB-9827-5A063B85657C}"/>
              </a:ext>
            </a:extLst>
          </p:cNvPr>
          <p:cNvSpPr/>
          <p:nvPr/>
        </p:nvSpPr>
        <p:spPr>
          <a:xfrm>
            <a:off x="4740323" y="1535375"/>
            <a:ext cx="982639" cy="368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A18F01-C6E4-3E9D-12CA-49D66136C5A7}"/>
              </a:ext>
            </a:extLst>
          </p:cNvPr>
          <p:cNvSpPr/>
          <p:nvPr/>
        </p:nvSpPr>
        <p:spPr>
          <a:xfrm>
            <a:off x="5875362" y="1542197"/>
            <a:ext cx="982639" cy="368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F6B461-0FA8-5C0C-17EA-555BF5F7A2F9}"/>
              </a:ext>
            </a:extLst>
          </p:cNvPr>
          <p:cNvSpPr/>
          <p:nvPr/>
        </p:nvSpPr>
        <p:spPr>
          <a:xfrm>
            <a:off x="7010401" y="1542197"/>
            <a:ext cx="982639" cy="368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C2CDEA-6A8C-53DC-10B7-097846045AD8}"/>
              </a:ext>
            </a:extLst>
          </p:cNvPr>
          <p:cNvSpPr/>
          <p:nvPr/>
        </p:nvSpPr>
        <p:spPr>
          <a:xfrm>
            <a:off x="8145440" y="1542197"/>
            <a:ext cx="982639" cy="368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E983E16-6EE0-B9EF-BC11-AF3AC8442317}"/>
              </a:ext>
            </a:extLst>
          </p:cNvPr>
          <p:cNvSpPr/>
          <p:nvPr/>
        </p:nvSpPr>
        <p:spPr>
          <a:xfrm>
            <a:off x="1774209" y="1535375"/>
            <a:ext cx="543636" cy="3753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6677519-89A0-677B-569D-4EF59B634135}"/>
              </a:ext>
            </a:extLst>
          </p:cNvPr>
          <p:cNvSpPr/>
          <p:nvPr/>
        </p:nvSpPr>
        <p:spPr>
          <a:xfrm>
            <a:off x="9291852" y="1542197"/>
            <a:ext cx="543636" cy="3753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8B7ABE2-7DD1-0EE2-F664-6AF684E0C32E}"/>
              </a:ext>
            </a:extLst>
          </p:cNvPr>
          <p:cNvCxnSpPr/>
          <p:nvPr/>
        </p:nvCxnSpPr>
        <p:spPr>
          <a:xfrm>
            <a:off x="1774209" y="2524836"/>
            <a:ext cx="833878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8C20AE2-7EE5-646C-4212-E221A9B28550}"/>
              </a:ext>
            </a:extLst>
          </p:cNvPr>
          <p:cNvCxnSpPr>
            <a:cxnSpLocks/>
          </p:cNvCxnSpPr>
          <p:nvPr/>
        </p:nvCxnSpPr>
        <p:spPr>
          <a:xfrm>
            <a:off x="2784143" y="3261815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1D30BC6-33A8-1780-8A41-B2956E3902B5}"/>
              </a:ext>
            </a:extLst>
          </p:cNvPr>
          <p:cNvCxnSpPr>
            <a:cxnSpLocks/>
          </p:cNvCxnSpPr>
          <p:nvPr/>
        </p:nvCxnSpPr>
        <p:spPr>
          <a:xfrm>
            <a:off x="2356513" y="3514299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7D11AB-6343-407E-A4B6-7706B44FCD68}"/>
              </a:ext>
            </a:extLst>
          </p:cNvPr>
          <p:cNvCxnSpPr>
            <a:cxnSpLocks/>
          </p:cNvCxnSpPr>
          <p:nvPr/>
        </p:nvCxnSpPr>
        <p:spPr>
          <a:xfrm>
            <a:off x="5329451" y="3723564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E969D9-5C08-F86C-40EB-08D1437479A0}"/>
              </a:ext>
            </a:extLst>
          </p:cNvPr>
          <p:cNvCxnSpPr>
            <a:cxnSpLocks/>
          </p:cNvCxnSpPr>
          <p:nvPr/>
        </p:nvCxnSpPr>
        <p:spPr>
          <a:xfrm>
            <a:off x="4610669" y="3022979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2F2C9E1-6B16-EB18-BE09-009A304F6589}"/>
              </a:ext>
            </a:extLst>
          </p:cNvPr>
          <p:cNvCxnSpPr>
            <a:cxnSpLocks/>
          </p:cNvCxnSpPr>
          <p:nvPr/>
        </p:nvCxnSpPr>
        <p:spPr>
          <a:xfrm>
            <a:off x="3393743" y="3148084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2ED03C8-0E49-6387-7A5B-1EB46D42D123}"/>
              </a:ext>
            </a:extLst>
          </p:cNvPr>
          <p:cNvCxnSpPr>
            <a:cxnSpLocks/>
          </p:cNvCxnSpPr>
          <p:nvPr/>
        </p:nvCxnSpPr>
        <p:spPr>
          <a:xfrm>
            <a:off x="2961564" y="2852382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5A63F1B-5E9A-E2EA-B1E8-7740B3A2B315}"/>
              </a:ext>
            </a:extLst>
          </p:cNvPr>
          <p:cNvCxnSpPr>
            <a:cxnSpLocks/>
          </p:cNvCxnSpPr>
          <p:nvPr/>
        </p:nvCxnSpPr>
        <p:spPr>
          <a:xfrm>
            <a:off x="7474425" y="3719015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10EF72-9AE9-85E8-FAE7-2530A0F27B44}"/>
              </a:ext>
            </a:extLst>
          </p:cNvPr>
          <p:cNvCxnSpPr>
            <a:cxnSpLocks/>
          </p:cNvCxnSpPr>
          <p:nvPr/>
        </p:nvCxnSpPr>
        <p:spPr>
          <a:xfrm>
            <a:off x="4960961" y="3985146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40A80D1-3575-2592-32BB-395DA37B3724}"/>
              </a:ext>
            </a:extLst>
          </p:cNvPr>
          <p:cNvCxnSpPr>
            <a:cxnSpLocks/>
          </p:cNvCxnSpPr>
          <p:nvPr/>
        </p:nvCxnSpPr>
        <p:spPr>
          <a:xfrm>
            <a:off x="4278573" y="3566615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A001CA1-467B-E8BB-E6AF-4CE407392828}"/>
              </a:ext>
            </a:extLst>
          </p:cNvPr>
          <p:cNvCxnSpPr>
            <a:cxnSpLocks/>
          </p:cNvCxnSpPr>
          <p:nvPr/>
        </p:nvCxnSpPr>
        <p:spPr>
          <a:xfrm>
            <a:off x="7895231" y="2852382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102633E-FBF8-23C3-CB49-457D9E2A27C2}"/>
              </a:ext>
            </a:extLst>
          </p:cNvPr>
          <p:cNvCxnSpPr>
            <a:cxnSpLocks/>
          </p:cNvCxnSpPr>
          <p:nvPr/>
        </p:nvCxnSpPr>
        <p:spPr>
          <a:xfrm>
            <a:off x="7133230" y="3148084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B30BBAA-0E0E-F78E-0AE5-6518FCCC6771}"/>
              </a:ext>
            </a:extLst>
          </p:cNvPr>
          <p:cNvCxnSpPr>
            <a:cxnSpLocks/>
          </p:cNvCxnSpPr>
          <p:nvPr/>
        </p:nvCxnSpPr>
        <p:spPr>
          <a:xfrm>
            <a:off x="6858001" y="3841845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E369A1F-DC67-0246-4FB8-7717C5025F0D}"/>
              </a:ext>
            </a:extLst>
          </p:cNvPr>
          <p:cNvCxnSpPr>
            <a:cxnSpLocks/>
          </p:cNvCxnSpPr>
          <p:nvPr/>
        </p:nvCxnSpPr>
        <p:spPr>
          <a:xfrm>
            <a:off x="5973171" y="2845558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14CB9EB-8C69-BD6D-C779-B48DCA8ECFC8}"/>
              </a:ext>
            </a:extLst>
          </p:cNvPr>
          <p:cNvCxnSpPr>
            <a:cxnSpLocks/>
          </p:cNvCxnSpPr>
          <p:nvPr/>
        </p:nvCxnSpPr>
        <p:spPr>
          <a:xfrm>
            <a:off x="5040573" y="3261815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90C3255-5824-580B-7F5F-A4AEDA94E15F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7752F57-F075-C05C-89A5-71644836F92C}"/>
              </a:ext>
            </a:extLst>
          </p:cNvPr>
          <p:cNvCxnSpPr>
            <a:cxnSpLocks/>
          </p:cNvCxnSpPr>
          <p:nvPr/>
        </p:nvCxnSpPr>
        <p:spPr>
          <a:xfrm>
            <a:off x="4064758" y="2845558"/>
            <a:ext cx="10372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2EB4355-D4B5-E0F2-2531-093D5ABD0D4D}"/>
              </a:ext>
            </a:extLst>
          </p:cNvPr>
          <p:cNvSpPr txBox="1"/>
          <p:nvPr/>
        </p:nvSpPr>
        <p:spPr>
          <a:xfrm>
            <a:off x="10355239" y="1534528"/>
            <a:ext cx="171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Repeat region</a:t>
            </a:r>
            <a:endParaRPr lang="nl-NL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A8AA2B-F418-E38F-7F20-3A4D6BBE2EA8}"/>
              </a:ext>
            </a:extLst>
          </p:cNvPr>
          <p:cNvSpPr txBox="1"/>
          <p:nvPr/>
        </p:nvSpPr>
        <p:spPr>
          <a:xfrm>
            <a:off x="10355239" y="2320119"/>
            <a:ext cx="1569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Long read</a:t>
            </a:r>
            <a:endParaRPr lang="nl-NL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DC2948-CB61-912A-6612-C0CE86F479C0}"/>
              </a:ext>
            </a:extLst>
          </p:cNvPr>
          <p:cNvSpPr txBox="1"/>
          <p:nvPr/>
        </p:nvSpPr>
        <p:spPr>
          <a:xfrm>
            <a:off x="10340385" y="3039196"/>
            <a:ext cx="1310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Short reads</a:t>
            </a:r>
            <a:endParaRPr lang="nl-NL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D21614-E229-6CCF-E333-E3E9BD543C5F}"/>
              </a:ext>
            </a:extLst>
          </p:cNvPr>
          <p:cNvSpPr txBox="1"/>
          <p:nvPr/>
        </p:nvSpPr>
        <p:spPr>
          <a:xfrm>
            <a:off x="1608161" y="4883716"/>
            <a:ext cx="85480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/>
              <a:t>Long-read assembly is used as scaffold</a:t>
            </a:r>
          </a:p>
          <a:p>
            <a:pPr marL="285750" indent="-28575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nl-NL" sz="2400" dirty="0"/>
              <a:t>Short-</a:t>
            </a:r>
            <a:r>
              <a:rPr lang="nl-NL" sz="2400" dirty="0" err="1"/>
              <a:t>reads</a:t>
            </a:r>
            <a:r>
              <a:rPr lang="nl-NL" sz="2400" dirty="0"/>
              <a:t> are </a:t>
            </a:r>
            <a:r>
              <a:rPr lang="nl-NL" sz="2400" dirty="0" err="1"/>
              <a:t>used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</a:t>
            </a:r>
            <a:r>
              <a:rPr lang="nl-NL" sz="2400" dirty="0" err="1"/>
              <a:t>polish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long-read</a:t>
            </a:r>
            <a:r>
              <a:rPr lang="nl-NL" sz="2400" dirty="0"/>
              <a:t> </a:t>
            </a:r>
            <a:r>
              <a:rPr lang="nl-NL" sz="2400" dirty="0" err="1"/>
              <a:t>assembly</a:t>
            </a:r>
            <a:r>
              <a:rPr lang="nl-NL" sz="2400" dirty="0"/>
              <a:t> </a:t>
            </a:r>
          </a:p>
          <a:p>
            <a:r>
              <a:rPr lang="nl-NL" sz="2400" dirty="0"/>
              <a:t>	(</a:t>
            </a:r>
            <a:r>
              <a:rPr lang="nl-NL" sz="2400" dirty="0" err="1"/>
              <a:t>SNPs</a:t>
            </a:r>
            <a:r>
              <a:rPr lang="nl-NL" sz="2400" dirty="0"/>
              <a:t>, </a:t>
            </a:r>
            <a:r>
              <a:rPr lang="nl-NL" sz="2400" dirty="0" err="1"/>
              <a:t>homopolymer</a:t>
            </a:r>
            <a:r>
              <a:rPr lang="nl-NL" sz="2400" dirty="0"/>
              <a:t> </a:t>
            </a:r>
            <a:r>
              <a:rPr lang="nl-NL" sz="2400" dirty="0" err="1"/>
              <a:t>tracts</a:t>
            </a:r>
            <a:r>
              <a:rPr lang="nl-NL" sz="2400" dirty="0"/>
              <a:t> </a:t>
            </a:r>
            <a:r>
              <a:rPr lang="nl-NL" sz="2400" dirty="0" err="1"/>
              <a:t>etc</a:t>
            </a:r>
            <a:r>
              <a:rPr lang="nl-NL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63254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2D19-A6F7-8B64-14FC-61D21942E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9570"/>
            <a:ext cx="10972800" cy="1143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Hybrid assembly tool: </a:t>
            </a:r>
            <a:r>
              <a:rPr lang="en-US" dirty="0" err="1">
                <a:solidFill>
                  <a:schemeClr val="accent1"/>
                </a:solidFill>
              </a:rPr>
              <a:t>UniCycler</a:t>
            </a:r>
            <a:endParaRPr lang="nl-NL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36545D-07CE-9608-BE55-1170924B1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193" t="12966" r="31332" b="3930"/>
          <a:stretch/>
        </p:blipFill>
        <p:spPr>
          <a:xfrm>
            <a:off x="609599" y="1548353"/>
            <a:ext cx="4518581" cy="509297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002D66-FBE5-5D8F-3A21-1560A4EFF7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120" t="21168" r="31953" b="52191"/>
          <a:stretch/>
        </p:blipFill>
        <p:spPr>
          <a:xfrm>
            <a:off x="5063411" y="5740924"/>
            <a:ext cx="1095927" cy="10311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DF8EBD-EB51-23FB-8644-C1874606FF06}"/>
              </a:ext>
            </a:extLst>
          </p:cNvPr>
          <p:cNvSpPr txBox="1"/>
          <p:nvPr/>
        </p:nvSpPr>
        <p:spPr>
          <a:xfrm>
            <a:off x="6159338" y="2443899"/>
            <a:ext cx="51564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of </a:t>
            </a:r>
            <a:r>
              <a:rPr lang="en-US" dirty="0" err="1"/>
              <a:t>Unicycler</a:t>
            </a:r>
            <a:r>
              <a:rPr lang="en-US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dirty="0"/>
              <a:t>De novo assembly with only long-reads (</a:t>
            </a:r>
            <a:r>
              <a:rPr lang="en-US" dirty="0" err="1"/>
              <a:t>miniasm</a:t>
            </a:r>
            <a:r>
              <a:rPr lang="en-US" dirty="0"/>
              <a:t> assembly)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Other assemblers: </a:t>
            </a:r>
            <a:r>
              <a:rPr lang="en-US" b="1" dirty="0" err="1"/>
              <a:t>Flye</a:t>
            </a:r>
            <a:r>
              <a:rPr lang="en-US" dirty="0"/>
              <a:t>, </a:t>
            </a:r>
            <a:r>
              <a:rPr lang="en-US" dirty="0" err="1"/>
              <a:t>Canu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De novo assembly with both long- and short-reads</a:t>
            </a:r>
          </a:p>
          <a:p>
            <a:pPr marL="285750" indent="-285750">
              <a:buFontTx/>
              <a:buChar char="-"/>
            </a:pPr>
            <a:r>
              <a:rPr lang="en-US" dirty="0"/>
              <a:t>Most powerful as hybrid assembler: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Use long-read assembly as scaffold, and correct sequence with Illumina short-reads</a:t>
            </a:r>
          </a:p>
          <a:p>
            <a:pPr marL="1200150" lvl="2" indent="-285750">
              <a:buFontTx/>
              <a:buChar char="-"/>
            </a:pPr>
            <a:r>
              <a:rPr lang="en-US" dirty="0"/>
              <a:t>Racon polishing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Polishing always necessary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51812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937568" y="345415"/>
            <a:ext cx="167411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47FED9-0B58-9940-BC35-CDBFD4A67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5400" y="6201425"/>
            <a:ext cx="2004092" cy="584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6E7E26-149B-4C4A-B2AC-3902637054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1904" y="6224217"/>
            <a:ext cx="1788067" cy="55378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586D13-C9A3-4240-9274-BC8A8E78D4D2}"/>
              </a:ext>
            </a:extLst>
          </p:cNvPr>
          <p:cNvCxnSpPr/>
          <p:nvPr/>
        </p:nvCxnSpPr>
        <p:spPr>
          <a:xfrm>
            <a:off x="0" y="6148533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D369EDBB-A6DA-44BB-9B83-65A784EF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65792" y="6004855"/>
            <a:ext cx="2293762" cy="100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175070-F3D8-88C5-D95C-D0DF67659140}"/>
              </a:ext>
            </a:extLst>
          </p:cNvPr>
          <p:cNvSpPr txBox="1"/>
          <p:nvPr/>
        </p:nvSpPr>
        <p:spPr>
          <a:xfrm>
            <a:off x="2901813" y="1043091"/>
            <a:ext cx="5238037" cy="44670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Assembly of reads into contigs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Reference-based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De novo assembly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Coverage and depth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Assembly algorithms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Assembly quality (N50, ORF length)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Problems with repeats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Tools: </a:t>
            </a:r>
            <a:r>
              <a:rPr lang="en-US" sz="2400" dirty="0" err="1">
                <a:ea typeface="Tahoma" panose="020B0604030504040204" pitchFamily="34" charset="0"/>
                <a:cs typeface="Tahoma" panose="020B0604030504040204" pitchFamily="34" charset="0"/>
              </a:rPr>
              <a:t>SPAdes,Flye</a:t>
            </a: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ea typeface="Tahoma" panose="020B0604030504040204" pitchFamily="34" charset="0"/>
                <a:cs typeface="Tahoma" panose="020B0604030504040204" pitchFamily="34" charset="0"/>
              </a:rPr>
              <a:t>UniCycler</a:t>
            </a: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, Checkm</a:t>
            </a:r>
          </a:p>
        </p:txBody>
      </p:sp>
    </p:spTree>
    <p:extLst>
      <p:ext uri="{BB962C8B-B14F-4D97-AF65-F5344CB8AC3E}">
        <p14:creationId xmlns:p14="http://schemas.microsoft.com/office/powerpoint/2010/main" val="61270620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823</Words>
  <Application>Microsoft Office PowerPoint</Application>
  <PresentationFormat>Widescreen</PresentationFormat>
  <Paragraphs>177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Tahoma</vt:lpstr>
      <vt:lpstr>Times New Roman</vt:lpstr>
      <vt:lpstr>Wingdings</vt:lpstr>
      <vt:lpstr>1_Office Theme</vt:lpstr>
      <vt:lpstr>Assembly strategies for  genomics and metagenomics</vt:lpstr>
      <vt:lpstr>PowerPoint Presentation</vt:lpstr>
      <vt:lpstr>PowerPoint Presentation</vt:lpstr>
      <vt:lpstr>Terminology</vt:lpstr>
      <vt:lpstr>Assembly strategies</vt:lpstr>
      <vt:lpstr>PowerPoint Presentation</vt:lpstr>
      <vt:lpstr>Assembly strategies</vt:lpstr>
      <vt:lpstr>Reference-guided assembly</vt:lpstr>
      <vt:lpstr>Tree of life</vt:lpstr>
      <vt:lpstr>PowerPoint Presentation</vt:lpstr>
      <vt:lpstr>De novo sequence assembly</vt:lpstr>
      <vt:lpstr>De novo sequence assembly</vt:lpstr>
      <vt:lpstr>How to assess assembly quality?</vt:lpstr>
      <vt:lpstr>Assembly length statistics: N50 and N80</vt:lpstr>
      <vt:lpstr>Assembly length statistics: N50 and N80</vt:lpstr>
      <vt:lpstr>PowerPoint Presentation</vt:lpstr>
      <vt:lpstr>Checkm; tool for assessing the quality of genomes</vt:lpstr>
      <vt:lpstr>Repeats have multiple sinks/sources</vt:lpstr>
      <vt:lpstr>Repeats have multiple sinks/sources</vt:lpstr>
      <vt:lpstr>Long-read sequencing</vt:lpstr>
      <vt:lpstr>Hybrid assembly</vt:lpstr>
      <vt:lpstr>Hybrid assembly tool: UniCycler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Assembly strategies for genomics and metagenomics</dc:title>
  <dc:creator>Dutilh, B.E. (Bas)</dc:creator>
  <cp:lastModifiedBy>Zomer, A.L. (Aldert)</cp:lastModifiedBy>
  <cp:revision>188</cp:revision>
  <cp:lastPrinted>2019-11-12T16:33:08Z</cp:lastPrinted>
  <dcterms:created xsi:type="dcterms:W3CDTF">2016-05-09T17:33:48Z</dcterms:created>
  <dcterms:modified xsi:type="dcterms:W3CDTF">2025-04-02T08:39:21Z</dcterms:modified>
</cp:coreProperties>
</file>